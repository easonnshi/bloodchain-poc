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5000" r:id="rId6"/>
    <p:sldId id="5001" r:id="rId9"/>
    <p:sldId id="5002" r:id="rId10"/>
    <p:sldId id="5003" r:id="rId12"/>
    <p:sldId id="5004" r:id="rId15"/>
    <p:sldId id="5005" r:id="rId17"/>
    <p:sldId id="5006" r:id="rId40"/>
    <p:sldId id="5007" r:id="rId19"/>
    <p:sldId id="5008" r:id="rId21"/>
    <p:sldId id="5009" r:id="rId22"/>
    <p:sldId id="5010" r:id="rId29"/>
    <p:sldId id="5011" r:id="rId30"/>
    <p:sldId id="5012" r:id="rId34"/>
    <p:sldId id="5013" r:id="rId41"/>
    <p:sldId id="5014" r:id="rId3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jbpOY0Xv+WprKr+veFMUQ5EgHJ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A6D282-4A5F-404E-A140-50677AB7453E}">
  <a:tblStyle styleId="{24A6D282-4A5F-404E-A140-50677AB745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4.xml"/><Relationship Id="rId15" Type="http://schemas.openxmlformats.org/officeDocument/2006/relationships/slide" Target="slides/slide5.xml"/><Relationship Id="rId17" Type="http://schemas.openxmlformats.org/officeDocument/2006/relationships/slide" Target="slides/slide6.xml"/><Relationship Id="rId19"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4" Type="http://schemas.openxmlformats.org/officeDocument/2006/relationships/slide" Target="slides/slide13.xml"/><Relationship Id="rId38" Type="http://schemas.openxmlformats.org/officeDocument/2006/relationships/slide" Target="slides/slide15.xml"/><Relationship Id="rId39" Type="http://customschemas.google.com/relationships/presentationmetadata" Target="metadata"/><Relationship Id="rId40" Type="http://schemas.openxmlformats.org/officeDocument/2006/relationships/slide" Target="slides/slide7.xml"/><Relationship Id="rId4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1 - 20s]</a:t>
            </a:r>
          </a:p>
          <a:p>
            <a:r>
              <a:t>Good morning. We are Group XX, and this is BloodChain. Our project asks one question: what would it take to make a blood-safety rule impossible to skip - not discouraged, not logged, impossible? Everything we will show you in the next ten minutes is built, deployed, and running on Hedera testnet right now.</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1 - 45s]</a:t>
            </a:r>
          </a:p>
          <a:p>
            <a:r>
              <a:t>Follow one donated unit of blood. It passes through four organisations - a collection centre, a testing laboratory, a transport company, a hospital - and each one keeps its own records, in its own system, under its own control. There is no shared owner of the truth. That structure produces four real failure modes: untested units that move anyway because a policy step was skipped; recalls that take hours or days of phone calls when one donation turns out to be contaminated; diversion, where a unit quietly leaves the legitimate chain; and records that can be edited after the fact by exactly the party that has something to hide. For any single unit, at any moment, nobody today can answer: where is it, who touched it, is it safe?</a:t>
            </a:r>
          </a:p>
        </p:txBody>
      </p:sp>
      <p:sp>
        <p:nvSpPr>
          <p:cNvPr id="65" name="Google Shape;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1 - 45s]</a:t>
            </a:r>
          </a:p>
          <a:p>
            <a:r>
              <a:t>This problem has attracted solutions before. ISBT barcodes give every unit an identity - but stop at each organisation's door. Blood-bank IT systems log the safety rule - inside one party's software. RFID cold-chain tracking watches temperature - not custody. And permissioned-chain pilots share records across organisations - but a consortium administrator still sits above the ledger, and the safety rule is still only logged. Look at the last column: every row records the rule after the fact. We are the only row where breaking it is mechanically impossible. That is the gap BloodChain fills.</a:t>
            </a:r>
          </a:p>
        </p:txBody>
      </p:sp>
      <p:sp>
        <p:nvSpPr>
          <p:cNvPr id="102" name="Google Shape;1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3bfaa2f2f_0_17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g3f3bfaa2f2f_0_175:notes"/>
          <p:cNvSpPr txBox="1"/>
          <p:nvPr>
            <p:ph idx="1" type="body"/>
          </p:nvPr>
        </p:nvSpPr>
        <p:spPr>
          <a:xfrm>
            <a:off x="0" y="0"/>
            <a:ext cx="2250000" cy="2250000"/>
          </a:xfrm>
          <a:prstGeom prst="rect">
            <a:avLst/>
          </a:prstGeom>
          <a:noFill/>
          <a:ln>
            <a:noFill/>
          </a:ln>
        </p:spPr>
        <p:txBody>
          <a:bodyPr anchorCtr="0" anchor="t" bIns="34275" lIns="68575" spcFirstLastPara="1" rIns="68575" wrap="square" tIns="34275">
            <a:noAutofit/>
          </a:bodyPr>
          <a:lstStyle/>
          <a:p>
            <a:r>
              <a:t>[SPEAKER 2 - 45s]</a:t>
            </a:r>
          </a:p>
          <a:p>
            <a:r>
              <a:t>Is there a market for this? In Switzerland, about 264,000 units were collected in 2023, across eleven regional services under Swiss Transfusion SRC. Blood is sold to hospitals at a government-set tariff - so this is not a market where you win share; any solution must fit inside the existing cost structure. Ours does: the network fee is about four cents per unit. Our customers are the four organisation types you saw, plus the regulator downstream, who gets audit-grade traceability for free. And the whitespace is real: no blockchain deployment for blood exists in Switzerland today. The closest comparable is EY's work with Canadian Blood Services - which tokenises units and tracks temperature, but does not verify the custodian's reported outcome, and has no Swiss presence.</a:t>
            </a:r>
          </a:p>
        </p:txBody>
      </p:sp>
      <p:sp>
        <p:nvSpPr>
          <p:cNvPr id="123" name="Google Shape;123;g3f3bfaa2f2f_0_175:notes"/>
          <p:cNvSpPr txBox="1"/>
          <p:nvPr>
            <p:ph idx="12" type="sldNum"/>
          </p:nvPr>
        </p:nvSpPr>
        <p:spPr>
          <a:xfrm>
            <a:off x="0" y="0"/>
            <a:ext cx="2250000" cy="2250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lang="en-US" sz="1400">
                <a:solidFill>
                  <a:schemeClr val="dk1"/>
                </a:solidFill>
                <a:latin typeface="Arial"/>
                <a:ea typeface="Arial"/>
                <a:cs typeface="Arial"/>
                <a:sym typeface="Arial"/>
              </a:rPr>
              <a:t>‹#›</a:t>
            </a:fld>
            <a:endParaRPr sz="14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2 - 45s]</a:t>
            </a:r>
          </a:p>
          <a:p>
            <a:r>
              <a:t>The obvious counter-question: why not just build one shared database? A shared database genuinely fixes fragmentation - everyone sees one record. But somebody must own and administer it, and that somebody can edit any row, and the safety rule lives in application code they control. You have not removed the problem; you have relocated it. A public distributed ledger fixes the same fragmentation - and removes the owner. Entries cannot be edited or deleted by anyone. The order of events is agreed by network consensus, not claimed by a participant. And rules run as contract code that no single party can bypass. A database fixes fragmentation. It does not fix control.</a:t>
            </a:r>
          </a:p>
        </p:txBody>
      </p:sp>
      <p:sp>
        <p:nvSpPr>
          <p:cNvPr id="198" name="Google Shape;1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2 - 45s]</a:t>
            </a:r>
          </a:p>
          <a:p>
            <a:r>
              <a:t>We build on Hedera, and we use three of its services for three different jobs. The Token Service gives each physical unit a non-fungible token - the network assigns the serial, and 'who holds unit five' is answered by the network, not by anyone's database. The Consensus Service gives us the record: an append-only topic, one message per custody event, ordered and timestamped by consensus - nothing can ever be edited. And the Smart Contract Service holds the gate - the part that can refuse. Why Hedera specifically? Finality in seconds with no forks, asynchronous Byzantine fault tolerance, and fees fixed in dollars - a consensus message costs a fraction of a cent, which is what makes logging every single event economically boring.</a:t>
            </a:r>
          </a:p>
        </p:txBody>
      </p:sp>
      <p:sp>
        <p:nvSpPr>
          <p:cNvPr id="259" name="Google Shape;25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[SPEAKER 3 - 50s]</a:t>
            </a:r>
          </a:p>
          <a:p>
            <a:r>
              <a:t>The course asks us directly: what is unique in your approach? Three things - and each one is demonstrated on-chain, not claimed on a slide. First: we enforce, we don't log. Our gate contract physically prevents an untested or failed unit from moving. The refusal is a network revert - you can see it on HashScan at sequence six of our topic. Second: silence is a signal. A ledger cannot see a physical hand-off - so we watch for the event that should exist and doesn't. A unit held past its window with no closing event raises an automatic, permanent stale alert - sequence twelve, also on-chain. Third: verifiability is the product surface. Reads bypass our servers entirely - the browser queries Hedera's public mirror node, every event links to HashScan, and every bag carries a QR code to its public history. You can check everything we say today without trusting us once.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3 - 45s]</a:t>
            </a:r>
          </a:p>
          <a:p>
            <a:r>
              <a:t>The architecture has exactly two paths out of the browser - and only one touches our infrastructure. Writes go through a small local server that holds the signing keys - because private keys must never live in a browser - and it signs each action as the correct party: the lab signs verdicts, the current holder signs transfers. Reads never touch that server at all: the front end queries Hedera's public mirror node directly - no keys, no account, no fees. On-chain sit the token, the topic, and the gate contract. And our local cache is deliberately disposable: one command replays the whole topic in consensus order and rebuilds it from chain history alone. The chain is the source of truth - operationally, not rhetorically.</a:t>
            </a:r>
          </a:p>
        </p:txBody>
      </p:sp>
      <p:sp>
        <p:nvSpPr>
          <p:cNvPr id="292" name="Google Shape;29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[MOEMEN - DEMO - 75s]</a:t>
            </a:r>
          </a:p>
          <a:p>
            <a:r>
              <a:t>Let me show you the system itself. This is our application, connected to Hedera testnet - the green badge at the top is not a mock-up; those are our real token, topic, and contract IDs, and every one of them opens on HashScan. On the left, the custody chain, live: each chip is one unit positioned by its on-chain status. You can see two units at collection marked BLOCKED - those are failed-test units the gate refused to move - and the quarantine bay holding an entire recalled batch. On the right, the consensus event log: real events with nanosecond timestamps assigned by the network. Read it bottom-up and you can watch the story happen: unit ten collected, test result, transfer BLOCKED - the contract refusing, permanently recorded at sequence thirty. Then unit eleven flagged, and batch alerts sweeping its siblings in seconds. Thirteen units, thirty-seven events on the ledger. And on the far right - a single unit's public record with the QR code that would be printed on the physical bag: scan it, and you land on this unit's full history, served by Hedera's public mirror node, with zero trust in us required. Everything you just saw, you can verify yourself, tonight, from your own laptop.</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3 - 45s]</a:t>
            </a:r>
          </a:p>
          <a:p>
            <a:r>
              <a:t>Here is the heart of the whole system, and it is one line of Solidity. Require: test status equals Passed - otherwise revert. When a unit has a passing verdict, the transfer is built, signed by the current holder, and the token moves. When it doesn't, the contract reverts - and the transfer is never even constructed. The refusal happens before the token is touched, and it is written to the log permanently as TRANSFER_BLOCKED. Note what our JavaScript does: nothing. It never decides pass or fail - it relays the contract's verdict. An if-statement on a server can be edited by whoever runs the server. A deployed contract cannot.</a:t>
            </a:r>
          </a:p>
        </p:txBody>
      </p:sp>
      <p:sp>
        <p:nvSpPr>
          <p:cNvPr id="369" name="Google Shape;36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3 - 40s]</a:t>
            </a:r>
          </a:p>
          <a:p>
            <a:r>
              <a:t>One donation becomes several products - so one bad unit means siblings, possibly already elsewhere. Today, finding them is a phone-call process measured in hours to days. For us it is one sweep. Flag a unit, and every sibling sharing its donor batch is handled in seconds: the flagged unit is quarantined; open siblings get a batch alert wherever they are - in our live run that caught a unit that had already been transferred to the lab; and siblings already transfused get a post-use alert - you cannot quarantine blood inside a patient, but you can permanently record that follow-up is required. The alerts land on a ledger every organisation is already watching.</a:t>
            </a:r>
          </a:p>
        </p:txBody>
      </p:sp>
      <p:sp>
        <p:nvSpPr>
          <p:cNvPr id="389" name="Google Shape;38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4 - 40s]</a:t>
            </a:r>
          </a:p>
          <a:p>
            <a:r>
              <a:t>The course asks us to characterise our token, so precisely: it is a non-fungible registry token - one NFT per physical blood unit - not a payment token, not an investment. Supply policy: minted on collection, burned on transfusion or disposal. No cap, no pre-mine, no allocation to anyone - circulating supply equals the number of physical units in circulation, always. And pricing: deliberately none. It is not listed, not priced, and cannot move outside the gated custody path. That is a design choice motivated by the business case: this token carries provenance, not speculation - a unit of blood must never become a tradable financial asset.</a:t>
            </a:r>
          </a:p>
        </p:txBody>
      </p:sp>
      <p:sp>
        <p:nvSpPr>
          <p:cNvPr id="541" name="Google Shape;5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4 - 50s]</a:t>
            </a:r>
          </a:p>
          <a:p>
            <a:r>
              <a:t>So where do the economics actually live? In bonds. Every organisation posts ten HBAR at registration, from its own account - skin in the game. A guilty verdict slashes the bond automatically - punishment stops being a note in somebody's database and becomes an economic consequence that needs nobody's cooperation. And it is deliberately graduated: at most twenty percent of the remaining bond per verdict, and suspension only after a pattern - five verdicts, or a bond ground below a quarter of the minimum. A hospital removed from the blood supply over one finding would hurt patients more than the fraud did. In our live run: a guilty verdict slashed the hospital exactly at the cap, ten to eight HBAR, one scandal, not suspended. And the whole ledger layer costs under five cents per unit - about zero point zero two percent of what a unit already costs a hospital.</a:t>
            </a:r>
          </a:p>
        </p:txBody>
      </p:sp>
      <p:sp>
        <p:nvSpPr>
          <p:cNvPr id="565" name="Google Shape;5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[SPEAKER 4 - 55s]</a:t>
            </a:r>
          </a:p>
          <a:p>
            <a:r>
              <a:t>Now the part the rubric rightly demands: what we cannot do. First, the oracle problem: the chain proves a record was never altered - not that it was true when written. A lab can submit a wrong verdict and our gate will faithfully enforce the wrong verdict. Our answer is attribution: every result is signed by an authorised lab key and tied to a staff hash - wrongness is never anonymous. Second, the diversion gap: a hospital that fakes a transfusion event defeats our stale monitor completely. The countermeasure is reconciliation against patient records - real EHR integration is future work, and we say so. On governance: the oversight authority is centralised in this proof of concept - held by the deployer. The natural extension is a DAO-style election so authority itself becomes contestable. Legally: nothing personal touches the ledger, and EU regulation already mandates thirty-year traceability - we fit an existing duty. And our platform trade-off, accepted knowingly: Hedera is public to read and write, but permissioned to validate.</a:t>
            </a:r>
          </a:p>
        </p:txBody>
      </p:sp>
      <p:sp>
        <p:nvSpPr>
          <p:cNvPr id="655" name="Google Shape;65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[MOEMEN - 10s]</a:t>
            </a:r>
          </a:p>
          <a:p>
            <a:r>
              <a:t>That is BloodChain. Everything is public and checkable - the IDs are on screen, the code is on GitHub. Thank you - we are happy to take questions.</a:t>
            </a:r>
          </a:p>
        </p:txBody>
      </p:sp>
      <p:sp>
        <p:nvSpPr>
          <p:cNvPr id="750" name="Google Shape;75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9.png"/><Relationship Id="rId5"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35.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35.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37.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2331720" y="841248"/>
            <a:ext cx="6812280" cy="324612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989320" y="960120"/>
            <a:ext cx="3017520" cy="3017520"/>
          </a:xfrm>
          <a:prstGeom prst="ellipse">
            <a:avLst/>
          </a:prstGeom>
          <a:solidFill>
            <a:srgbClr val="FFFFF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drop.png" id="18" name="Google Shape;18;p1"/>
          <p:cNvPicPr preferRelativeResize="0"/>
          <p:nvPr/>
        </p:nvPicPr>
        <p:blipFill rotWithShape="1">
          <a:blip r:embed="rId3">
            <a:alphaModFix/>
          </a:blip>
          <a:srcRect b="0" l="0" r="0" t="0"/>
          <a:stretch/>
        </p:blipFill>
        <p:spPr>
          <a:xfrm>
            <a:off x="6675120" y="1572768"/>
            <a:ext cx="1645920" cy="1645920"/>
          </a:xfrm>
          <a:prstGeom prst="rect">
            <a:avLst/>
          </a:prstGeom>
          <a:noFill/>
          <a:ln>
            <a:noFill/>
          </a:ln>
        </p:spPr>
      </p:pic>
      <p:pic>
        <p:nvPicPr>
          <p:cNvPr descr="/sessions/zen-gracious-knuth/mnt/outputs/uzh_logos.png" id="19" name="Google Shape;19;p1"/>
          <p:cNvPicPr preferRelativeResize="0"/>
          <p:nvPr/>
        </p:nvPicPr>
        <p:blipFill rotWithShape="1">
          <a:blip r:embed="rId4">
            <a:alphaModFix/>
          </a:blip>
          <a:srcRect b="0" l="0" r="0" t="0"/>
          <a:stretch/>
        </p:blipFill>
        <p:spPr>
          <a:xfrm>
            <a:off x="411480" y="301752"/>
            <a:ext cx="1417320" cy="297180"/>
          </a:xfrm>
          <a:prstGeom prst="rect">
            <a:avLst/>
          </a:prstGeom>
          <a:noFill/>
          <a:ln>
            <a:noFill/>
          </a:ln>
        </p:spPr>
      </p:pic>
      <p:sp>
        <p:nvSpPr>
          <p:cNvPr id="20" name="Google Shape;20;p1"/>
          <p:cNvSpPr/>
          <p:nvPr/>
        </p:nvSpPr>
        <p:spPr>
          <a:xfrm>
            <a:off x="411480" y="1417320"/>
            <a:ext cx="5074920" cy="210312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566928" y="1572768"/>
            <a:ext cx="4800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3400"/>
              <a:buFont typeface="Arial"/>
              <a:buNone/>
            </a:pPr>
            <a:r>
              <a:rPr b="1" i="0" lang="en-US" sz="3400" u="none" cap="none" strike="noStrike">
                <a:solidFill>
                  <a:srgbClr val="000000"/>
                </a:solidFill>
                <a:latin typeface="Arial"/>
                <a:ea typeface="Arial"/>
                <a:cs typeface="Arial"/>
                <a:sym typeface="Arial"/>
              </a:rPr>
              <a:t>BloodChain</a:t>
            </a:r>
            <a:endParaRPr b="0" i="0" sz="3400" u="none" cap="none" strike="noStrike">
              <a:solidFill>
                <a:schemeClr val="dk1"/>
              </a:solidFill>
              <a:latin typeface="Calibri"/>
              <a:ea typeface="Calibri"/>
              <a:cs typeface="Calibri"/>
              <a:sym typeface="Calibri"/>
            </a:endParaRPr>
          </a:p>
        </p:txBody>
      </p:sp>
      <p:sp>
        <p:nvSpPr>
          <p:cNvPr id="22" name="Google Shape;22;p1"/>
          <p:cNvSpPr/>
          <p:nvPr/>
        </p:nvSpPr>
        <p:spPr>
          <a:xfrm>
            <a:off x="566928" y="2084832"/>
            <a:ext cx="48006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28A5"/>
              </a:buClr>
              <a:buSzPts val="1700"/>
              <a:buFont typeface="Arial"/>
              <a:buNone/>
            </a:pPr>
            <a:r>
              <a:rPr b="1" i="0" lang="en-US" sz="1700" u="none" cap="none" strike="noStrike">
                <a:solidFill>
                  <a:srgbClr val="0028A5"/>
                </a:solidFill>
                <a:latin typeface="Arial"/>
                <a:ea typeface="Arial"/>
                <a:cs typeface="Arial"/>
                <a:sym typeface="Arial"/>
              </a:rPr>
              <a:t>Making a blood-safety rule impossible to skip</a:t>
            </a:r>
            <a:endParaRPr b="0" i="0" sz="1700" u="none" cap="none" strike="noStrike">
              <a:solidFill>
                <a:schemeClr val="dk1"/>
              </a:solidFill>
              <a:latin typeface="Calibri"/>
              <a:ea typeface="Calibri"/>
              <a:cs typeface="Calibri"/>
              <a:sym typeface="Calibri"/>
            </a:endParaRPr>
          </a:p>
        </p:txBody>
      </p:sp>
      <p:sp>
        <p:nvSpPr>
          <p:cNvPr id="23" name="Google Shape;23;p1"/>
          <p:cNvSpPr/>
          <p:nvPr/>
        </p:nvSpPr>
        <p:spPr>
          <a:xfrm>
            <a:off x="566928" y="2560320"/>
            <a:ext cx="4800600" cy="86868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Deep Dive into Blockchain '26  ·  Final Group Project</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Group XX  ·  </a:t>
            </a:r>
            <a:r>
              <a:rPr lang="en-US" sz="1100">
                <a:solidFill>
                  <a:srgbClr val="3F3F3F"/>
                </a:solidFill>
              </a:rPr>
              <a:t>Yichun Shi</a:t>
            </a:r>
            <a:r>
              <a:rPr b="0" i="0" lang="en-US" sz="1100" u="none" cap="none" strike="noStrike">
                <a:solidFill>
                  <a:srgbClr val="3F3F3F"/>
                </a:solidFill>
                <a:latin typeface="Arial"/>
                <a:ea typeface="Arial"/>
                <a:cs typeface="Arial"/>
                <a:sym typeface="Arial"/>
              </a:rPr>
              <a:t> · Moemen · [Name 3] · [Name 4] · [Name 5]</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Built on Hedera testnet  ·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pic>
        <p:nvPicPr>
          <p:cNvPr descr="/sessions/zen-gracious-knuth/mnt/outputs/uzh_logos.png" id="67" name="Google Shape;67;p4"/>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68" name="Google Shape;68;p4"/>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69" name="Google Shape;69;p4"/>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4</a:t>
            </a:r>
            <a:endParaRPr b="0" i="0" sz="800" u="none" cap="none" strike="noStrike">
              <a:solidFill>
                <a:schemeClr val="dk1"/>
              </a:solidFill>
              <a:latin typeface="Calibri"/>
              <a:ea typeface="Calibri"/>
              <a:cs typeface="Calibri"/>
              <a:sym typeface="Calibri"/>
            </a:endParaRPr>
          </a:p>
        </p:txBody>
      </p:sp>
      <p:sp>
        <p:nvSpPr>
          <p:cNvPr id="70" name="Google Shape;70;p4"/>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Vein to vein</a:t>
            </a:r>
            <a:endParaRPr b="0" i="0" sz="2600" u="none" cap="none" strike="noStrike">
              <a:solidFill>
                <a:schemeClr val="dk1"/>
              </a:solidFill>
              <a:latin typeface="Calibri"/>
              <a:ea typeface="Calibri"/>
              <a:cs typeface="Calibri"/>
              <a:sym typeface="Calibri"/>
            </a:endParaRPr>
          </a:p>
        </p:txBody>
      </p:sp>
      <p:sp>
        <p:nvSpPr>
          <p:cNvPr id="71" name="Google Shape;71;p4"/>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The full journey of one donated unit — collection, testing, transport, transfusion</a:t>
            </a:r>
            <a:endParaRPr b="0" i="0" sz="1300" u="none" cap="none" strike="noStrike">
              <a:solidFill>
                <a:schemeClr val="dk1"/>
              </a:solidFill>
              <a:latin typeface="Calibri"/>
              <a:ea typeface="Calibri"/>
              <a:cs typeface="Calibri"/>
              <a:sym typeface="Calibri"/>
            </a:endParaRPr>
          </a:p>
        </p:txBody>
      </p:sp>
      <p:sp>
        <p:nvSpPr>
          <p:cNvPr id="72" name="Google Shape;72;p4"/>
          <p:cNvSpPr/>
          <p:nvPr/>
        </p:nvSpPr>
        <p:spPr>
          <a:xfrm>
            <a:off x="41148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44805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Donor</a:t>
            </a:r>
            <a:endParaRPr b="0" i="0" sz="1000" u="none" cap="none" strike="noStrike">
              <a:solidFill>
                <a:schemeClr val="dk1"/>
              </a:solidFill>
              <a:latin typeface="Calibri"/>
              <a:ea typeface="Calibri"/>
              <a:cs typeface="Calibri"/>
              <a:sym typeface="Calibri"/>
            </a:endParaRPr>
          </a:p>
        </p:txBody>
      </p:sp>
      <p:sp>
        <p:nvSpPr>
          <p:cNvPr id="74" name="Google Shape;74;p4"/>
          <p:cNvSpPr/>
          <p:nvPr/>
        </p:nvSpPr>
        <p:spPr>
          <a:xfrm>
            <a:off x="1583436" y="1559052"/>
            <a:ext cx="246888" cy="100584"/>
          </a:xfrm>
          <a:prstGeom prst="rightArrow">
            <a:avLst>
              <a:gd fmla="val 50000" name="adj1"/>
              <a:gd fmla="val 50000" name="adj2"/>
            </a:avLst>
          </a:prstGeom>
          <a:solidFill>
            <a:srgbClr val="9AA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84404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188061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Collection</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centre</a:t>
            </a:r>
            <a:endParaRPr b="0" i="0" sz="1000" u="none" cap="none" strike="noStrike">
              <a:solidFill>
                <a:schemeClr val="dk1"/>
              </a:solidFill>
              <a:latin typeface="Calibri"/>
              <a:ea typeface="Calibri"/>
              <a:cs typeface="Calibri"/>
              <a:sym typeface="Calibri"/>
            </a:endParaRPr>
          </a:p>
        </p:txBody>
      </p:sp>
      <p:sp>
        <p:nvSpPr>
          <p:cNvPr id="77" name="Google Shape;77;p4"/>
          <p:cNvSpPr/>
          <p:nvPr/>
        </p:nvSpPr>
        <p:spPr>
          <a:xfrm>
            <a:off x="3015996" y="1559052"/>
            <a:ext cx="246888" cy="100584"/>
          </a:xfrm>
          <a:prstGeom prst="rightArrow">
            <a:avLst>
              <a:gd fmla="val 50000" name="adj1"/>
              <a:gd fmla="val 50000" name="adj2"/>
            </a:avLst>
          </a:prstGeom>
          <a:solidFill>
            <a:srgbClr val="9AA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327660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31317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Testing</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laboratory</a:t>
            </a:r>
            <a:endParaRPr b="0" i="0" sz="1000" u="none" cap="none" strike="noStrike">
              <a:solidFill>
                <a:schemeClr val="dk1"/>
              </a:solidFill>
              <a:latin typeface="Calibri"/>
              <a:ea typeface="Calibri"/>
              <a:cs typeface="Calibri"/>
              <a:sym typeface="Calibri"/>
            </a:endParaRPr>
          </a:p>
        </p:txBody>
      </p:sp>
      <p:sp>
        <p:nvSpPr>
          <p:cNvPr id="80" name="Google Shape;80;p4"/>
          <p:cNvSpPr/>
          <p:nvPr/>
        </p:nvSpPr>
        <p:spPr>
          <a:xfrm>
            <a:off x="4448556" y="1559052"/>
            <a:ext cx="246888" cy="100584"/>
          </a:xfrm>
          <a:prstGeom prst="rightArrow">
            <a:avLst>
              <a:gd fmla="val 50000" name="adj1"/>
              <a:gd fmla="val 50000" name="adj2"/>
            </a:avLst>
          </a:prstGeom>
          <a:solidFill>
            <a:srgbClr val="9AA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470916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474573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Transport</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company</a:t>
            </a:r>
            <a:endParaRPr b="0" i="0" sz="1000" u="none" cap="none" strike="noStrike">
              <a:solidFill>
                <a:schemeClr val="dk1"/>
              </a:solidFill>
              <a:latin typeface="Calibri"/>
              <a:ea typeface="Calibri"/>
              <a:cs typeface="Calibri"/>
              <a:sym typeface="Calibri"/>
            </a:endParaRPr>
          </a:p>
        </p:txBody>
      </p:sp>
      <p:sp>
        <p:nvSpPr>
          <p:cNvPr id="83" name="Google Shape;83;p4"/>
          <p:cNvSpPr/>
          <p:nvPr/>
        </p:nvSpPr>
        <p:spPr>
          <a:xfrm>
            <a:off x="5881116" y="1559052"/>
            <a:ext cx="246888" cy="100584"/>
          </a:xfrm>
          <a:prstGeom prst="rightArrow">
            <a:avLst>
              <a:gd fmla="val 50000" name="adj1"/>
              <a:gd fmla="val 50000" name="adj2"/>
            </a:avLst>
          </a:prstGeom>
          <a:solidFill>
            <a:srgbClr val="9AA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614172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617829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Hospital</a:t>
            </a:r>
            <a:endParaRPr b="0" i="0" sz="1000" u="none" cap="none" strike="noStrike">
              <a:solidFill>
                <a:schemeClr val="dk1"/>
              </a:solidFill>
              <a:latin typeface="Calibri"/>
              <a:ea typeface="Calibri"/>
              <a:cs typeface="Calibri"/>
              <a:sym typeface="Calibri"/>
            </a:endParaRPr>
          </a:p>
        </p:txBody>
      </p:sp>
      <p:sp>
        <p:nvSpPr>
          <p:cNvPr id="86" name="Google Shape;86;p4"/>
          <p:cNvSpPr/>
          <p:nvPr/>
        </p:nvSpPr>
        <p:spPr>
          <a:xfrm>
            <a:off x="7313676" y="1559052"/>
            <a:ext cx="246888" cy="100584"/>
          </a:xfrm>
          <a:prstGeom prst="rightArrow">
            <a:avLst>
              <a:gd fmla="val 50000" name="adj1"/>
              <a:gd fmla="val 50000" name="adj2"/>
            </a:avLst>
          </a:prstGeom>
          <a:solidFill>
            <a:srgbClr val="9AA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7574280" y="1298448"/>
            <a:ext cx="1158240" cy="621792"/>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7610856" y="1298448"/>
            <a:ext cx="1085088" cy="6217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8A5"/>
              </a:buClr>
              <a:buSzPts val="1000"/>
              <a:buFont typeface="Arial"/>
              <a:buNone/>
            </a:pPr>
            <a:r>
              <a:rPr b="1" i="0" lang="en-US" sz="1000" u="none" cap="none" strike="noStrike">
                <a:solidFill>
                  <a:srgbClr val="0028A5"/>
                </a:solidFill>
                <a:latin typeface="Arial"/>
                <a:ea typeface="Arial"/>
                <a:cs typeface="Arial"/>
                <a:sym typeface="Arial"/>
              </a:rPr>
              <a:t>Patient</a:t>
            </a:r>
            <a:endParaRPr b="0" i="0" sz="1000" u="none" cap="none" strike="noStrike">
              <a:solidFill>
                <a:schemeClr val="dk1"/>
              </a:solidFill>
              <a:latin typeface="Calibri"/>
              <a:ea typeface="Calibri"/>
              <a:cs typeface="Calibri"/>
              <a:sym typeface="Calibri"/>
            </a:endParaRPr>
          </a:p>
        </p:txBody>
      </p:sp>
      <p:sp>
        <p:nvSpPr>
          <p:cNvPr id="89" name="Google Shape;89;p4"/>
          <p:cNvSpPr/>
          <p:nvPr/>
        </p:nvSpPr>
        <p:spPr>
          <a:xfrm>
            <a:off x="1627632" y="2084832"/>
            <a:ext cx="5532120" cy="41148"/>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1572768" y="2084832"/>
            <a:ext cx="41148" cy="14630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2944368" y="2084832"/>
            <a:ext cx="41148" cy="14630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315968" y="2084832"/>
            <a:ext cx="41148" cy="14630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5687568" y="2084832"/>
            <a:ext cx="41148" cy="14630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7114032" y="2084832"/>
            <a:ext cx="41148" cy="14630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11480" y="2286000"/>
            <a:ext cx="832104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00000"/>
              </a:buClr>
              <a:buSzPts val="1200"/>
              <a:buFont typeface="Arial"/>
              <a:buNone/>
            </a:pPr>
            <a:r>
              <a:rPr b="1" i="0" lang="en-US" sz="1200" u="none" cap="none" strike="noStrike">
                <a:solidFill>
                  <a:srgbClr val="C00000"/>
                </a:solidFill>
                <a:latin typeface="Arial"/>
                <a:ea typeface="Arial"/>
                <a:cs typeface="Arial"/>
                <a:sym typeface="Arial"/>
              </a:rPr>
              <a:t>four separate organisations  ·  four record systems  ·  four owners  ·  no shared owner</a:t>
            </a:r>
            <a:endParaRPr b="0" i="0" sz="1200" u="none" cap="none" strike="noStrike">
              <a:solidFill>
                <a:schemeClr val="dk1"/>
              </a:solidFill>
              <a:latin typeface="Calibri"/>
              <a:ea typeface="Calibri"/>
              <a:cs typeface="Calibri"/>
              <a:sym typeface="Calibri"/>
            </a:endParaRPr>
          </a:p>
        </p:txBody>
      </p:sp>
      <p:sp>
        <p:nvSpPr>
          <p:cNvPr id="96" name="Google Shape;96;p4"/>
          <p:cNvSpPr/>
          <p:nvPr/>
        </p:nvSpPr>
        <p:spPr>
          <a:xfrm>
            <a:off x="1188720" y="2880360"/>
            <a:ext cx="6766560" cy="105156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316736" y="2880360"/>
            <a:ext cx="6510528" cy="105156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For any single unit, at any moment, can you answer:</a:t>
            </a:r>
            <a:endParaRPr b="0" i="0" sz="15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where is it, who has touched it, and is it still safe to use?</a:t>
            </a:r>
            <a:endParaRPr b="0" i="0" sz="1500" u="none" cap="none" strike="noStrike">
              <a:solidFill>
                <a:schemeClr val="dk1"/>
              </a:solidFill>
              <a:latin typeface="Calibri"/>
              <a:ea typeface="Calibri"/>
              <a:cs typeface="Calibri"/>
              <a:sym typeface="Calibri"/>
            </a:endParaRPr>
          </a:p>
        </p:txBody>
      </p:sp>
      <p:sp>
        <p:nvSpPr>
          <p:cNvPr id="98" name="Google Shape;98;p4"/>
          <p:cNvSpPr/>
          <p:nvPr/>
        </p:nvSpPr>
        <p:spPr>
          <a:xfrm>
            <a:off x="411480" y="4069080"/>
            <a:ext cx="832104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Today, no one organisation can answer that question — each of them holds only its own fragment.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03" name="Shape 103"/>
        <p:cNvGrpSpPr/>
        <p:nvPr/>
      </p:nvGrpSpPr>
      <p:grpSpPr>
        <a:xfrm>
          <a:off x="0" y="0"/>
          <a:ext cx="0" cy="0"/>
          <a:chOff x="0" y="0"/>
          <a:chExt cx="0" cy="0"/>
        </a:xfrm>
      </p:grpSpPr>
      <p:pic>
        <p:nvPicPr>
          <p:cNvPr descr="/sessions/zen-gracious-knuth/mnt/outputs/uzh_logos.png" id="104" name="Google Shape;104;p7"/>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105" name="Google Shape;105;p7"/>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106" name="Google Shape;106;p7"/>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7</a:t>
            </a:r>
            <a:endParaRPr b="0" i="0" sz="800" u="none" cap="none" strike="noStrike">
              <a:solidFill>
                <a:schemeClr val="dk1"/>
              </a:solidFill>
              <a:latin typeface="Calibri"/>
              <a:ea typeface="Calibri"/>
              <a:cs typeface="Calibri"/>
              <a:sym typeface="Calibri"/>
            </a:endParaRPr>
          </a:p>
        </p:txBody>
      </p:sp>
      <p:sp>
        <p:nvSpPr>
          <p:cNvPr id="107" name="Google Shape;107;p7"/>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What already exists — and what it does not do</a:t>
            </a:r>
            <a:endParaRPr b="0" i="0" sz="2600" u="none" cap="none" strike="noStrike">
              <a:solidFill>
                <a:schemeClr val="dk1"/>
              </a:solidFill>
              <a:latin typeface="Calibri"/>
              <a:ea typeface="Calibri"/>
              <a:cs typeface="Calibri"/>
              <a:sym typeface="Calibri"/>
            </a:endParaRPr>
          </a:p>
        </p:txBody>
      </p:sp>
      <p:graphicFrame>
        <p:nvGraphicFramePr>
          <p:cNvPr id="108" name="Google Shape;108;p7"/>
          <p:cNvGraphicFramePr/>
          <p:nvPr/>
        </p:nvGraphicFramePr>
        <p:xfrm>
          <a:off x="411480" y="1078992"/>
          <a:ext cx="3000000" cy="3000000"/>
        </p:xfrm>
        <a:graphic>
          <a:graphicData uri="http://schemas.openxmlformats.org/drawingml/2006/table">
            <a:tbl>
              <a:tblPr>
                <a:noFill/>
                <a:tableStyleId>{24A6D282-4A5F-404E-A140-50677AB7453E}</a:tableStyleId>
              </a:tblPr>
              <a:tblGrid>
                <a:gridCol w="2615175"/>
                <a:gridCol w="1188725"/>
                <a:gridCol w="1572775"/>
                <a:gridCol w="1463050"/>
                <a:gridCol w="1481325"/>
              </a:tblGrid>
              <a:tr h="402325">
                <a:tc>
                  <a:txBody>
                    <a:bodyPr/>
                    <a:lstStyle/>
                    <a:p>
                      <a:pPr indent="0" lvl="0" marL="0" marR="0" rtl="0" algn="ctr">
                        <a:spcBef>
                          <a:spcPts val="0"/>
                        </a:spcBef>
                        <a:spcAft>
                          <a:spcPts val="0"/>
                        </a:spcAft>
                        <a:buClr>
                          <a:schemeClr val="dk1"/>
                        </a:buClr>
                        <a:buSzPts val="1000"/>
                        <a:buFont typeface="Calibri"/>
                        <a:buNone/>
                      </a:pPr>
                      <a:r>
                        <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28A5"/>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Unit</a:t>
                      </a:r>
                      <a:endParaRPr sz="1000" u="none" cap="none" strike="noStrike">
                        <a:latin typeface="Arial"/>
                        <a:ea typeface="Arial"/>
                        <a:cs typeface="Arial"/>
                        <a:sym typeface="Arial"/>
                      </a:endParaRPr>
                    </a:p>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identity</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28A5"/>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Shared across</a:t>
                      </a:r>
                      <a:endParaRPr sz="1000" u="none" cap="none" strike="noStrike">
                        <a:latin typeface="Arial"/>
                        <a:ea typeface="Arial"/>
                        <a:cs typeface="Arial"/>
                        <a:sym typeface="Arial"/>
                      </a:endParaRPr>
                    </a:p>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organisations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28A5"/>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No single</a:t>
                      </a:r>
                      <a:endParaRPr sz="1000" u="none" cap="none" strike="noStrike">
                        <a:latin typeface="Arial"/>
                        <a:ea typeface="Arial"/>
                        <a:cs typeface="Arial"/>
                        <a:sym typeface="Arial"/>
                      </a:endParaRPr>
                    </a:p>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administrator</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28A5"/>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Enforces the</a:t>
                      </a:r>
                      <a:endParaRPr sz="1000" u="none" cap="none" strike="noStrike">
                        <a:latin typeface="Arial"/>
                        <a:ea typeface="Arial"/>
                        <a:cs typeface="Arial"/>
                        <a:sym typeface="Arial"/>
                      </a:endParaRPr>
                    </a:p>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safety rule</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28A5"/>
                    </a:solidFill>
                  </a:tcPr>
                </a:tc>
              </a:tr>
              <a:tr h="310900">
                <a:tc>
                  <a:txBody>
                    <a:bodyPr/>
                    <a:lstStyle/>
                    <a:p>
                      <a:pPr indent="0" lvl="0" marL="0" marR="0" rtl="0" algn="l">
                        <a:spcBef>
                          <a:spcPts val="0"/>
                        </a:spcBef>
                        <a:spcAft>
                          <a:spcPts val="0"/>
                        </a:spcAft>
                        <a:buClr>
                          <a:srgbClr val="3F3F3F"/>
                        </a:buClr>
                        <a:buSzPts val="1050"/>
                        <a:buFont typeface="Arial"/>
                        <a:buNone/>
                      </a:pPr>
                      <a:r>
                        <a:rPr b="1" lang="en-US" sz="1050" u="none" cap="none" strike="noStrike">
                          <a:solidFill>
                            <a:srgbClr val="3F3F3F"/>
                          </a:solidFill>
                          <a:latin typeface="Arial"/>
                          <a:ea typeface="Arial"/>
                          <a:cs typeface="Arial"/>
                          <a:sym typeface="Arial"/>
                        </a:rPr>
                        <a:t>ISBT 128 barcode labelling</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3F3F3F"/>
                        </a:buClr>
                        <a:buSzPts val="1050"/>
                        <a:buFont typeface="Arial"/>
                        <a:buNone/>
                      </a:pPr>
                      <a:r>
                        <a:rPr b="1" lang="en-US" sz="1050" u="none" cap="none" strike="noStrike">
                          <a:solidFill>
                            <a:srgbClr val="3F3F3F"/>
                          </a:solidFill>
                          <a:latin typeface="Arial"/>
                          <a:ea typeface="Arial"/>
                          <a:cs typeface="Arial"/>
                          <a:sym typeface="Arial"/>
                        </a:rPr>
                        <a:t>Blood-bank IT systems (BECS)</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logged only</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310900">
                <a:tc>
                  <a:txBody>
                    <a:bodyPr/>
                    <a:lstStyle/>
                    <a:p>
                      <a:pPr indent="0" lvl="0" marL="0" marR="0" rtl="0" algn="l">
                        <a:spcBef>
                          <a:spcPts val="0"/>
                        </a:spcBef>
                        <a:spcAft>
                          <a:spcPts val="0"/>
                        </a:spcAft>
                        <a:buClr>
                          <a:srgbClr val="3F3F3F"/>
                        </a:buClr>
                        <a:buSzPts val="1050"/>
                        <a:buFont typeface="Arial"/>
                        <a:buNone/>
                      </a:pPr>
                      <a:r>
                        <a:rPr b="1" lang="en-US" sz="1050" u="none" cap="none" strike="noStrike">
                          <a:solidFill>
                            <a:srgbClr val="3F3F3F"/>
                          </a:solidFill>
                          <a:latin typeface="Arial"/>
                          <a:ea typeface="Arial"/>
                          <a:cs typeface="Arial"/>
                          <a:sym typeface="Arial"/>
                        </a:rPr>
                        <a:t>RFID / IoT cold-chain tracking</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partly</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9A9A9A"/>
                        </a:buClr>
                        <a:buSzPts val="1000"/>
                        <a:buFont typeface="Arial"/>
                        <a:buNone/>
                      </a:pPr>
                      <a:r>
                        <a:rPr lang="en-US" sz="1000" u="none" cap="none" strike="noStrike">
                          <a:solidFill>
                            <a:srgbClr val="9A9A9A"/>
                          </a:solidFill>
                          <a:latin typeface="Arial"/>
                          <a:ea typeface="Arial"/>
                          <a:cs typeface="Arial"/>
                          <a:sym typeface="Arial"/>
                        </a:rPr>
                        <a:t>no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3F3F3F"/>
                        </a:buClr>
                        <a:buSzPts val="1050"/>
                        <a:buFont typeface="Arial"/>
                        <a:buNone/>
                      </a:pPr>
                      <a:r>
                        <a:rPr b="1" lang="en-US" sz="1050" u="none" cap="none" strike="noStrike">
                          <a:solidFill>
                            <a:srgbClr val="3F3F3F"/>
                          </a:solidFill>
                          <a:latin typeface="Arial"/>
                          <a:ea typeface="Arial"/>
                          <a:cs typeface="Arial"/>
                          <a:sym typeface="Arial"/>
                        </a:rPr>
                        <a:t>Permissioned-chain pilots</a:t>
                      </a:r>
                      <a:endParaRPr sz="1050" u="none" cap="none" strike="noStrike">
                        <a:latin typeface="Arial"/>
                        <a:ea typeface="Arial"/>
                        <a:cs typeface="Arial"/>
                        <a:sym typeface="Arial"/>
                      </a:endParaRPr>
                    </a:p>
                    <a:p>
                      <a:pPr indent="0" lvl="0" marL="0" marR="0" rtl="0" algn="l">
                        <a:spcBef>
                          <a:spcPts val="0"/>
                        </a:spcBef>
                        <a:spcAft>
                          <a:spcPts val="0"/>
                        </a:spcAft>
                        <a:buClr>
                          <a:srgbClr val="3F3F3F"/>
                        </a:buClr>
                        <a:buSzPts val="1050"/>
                        <a:buFont typeface="Arial"/>
                        <a:buNone/>
                      </a:pPr>
                      <a:r>
                        <a:rPr b="1" lang="en-US" sz="1050" u="none" cap="none" strike="noStrike">
                          <a:solidFill>
                            <a:srgbClr val="3F3F3F"/>
                          </a:solidFill>
                          <a:latin typeface="Arial"/>
                          <a:ea typeface="Arial"/>
                          <a:cs typeface="Arial"/>
                          <a:sym typeface="Arial"/>
                        </a:rPr>
                        <a:t>(Hyperledger-style consortia)</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consortium</a:t>
                      </a:r>
                      <a:endParaRPr sz="1000" u="none" cap="none" strike="noStrike">
                        <a:latin typeface="Arial"/>
                        <a:ea typeface="Arial"/>
                        <a:cs typeface="Arial"/>
                        <a:sym typeface="Arial"/>
                      </a:endParaRPr>
                    </a:p>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admin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3F3F3F"/>
                        </a:buClr>
                        <a:buSzPts val="1000"/>
                        <a:buFont typeface="Arial"/>
                        <a:buNone/>
                      </a:pPr>
                      <a:r>
                        <a:rPr lang="en-US" sz="1000" u="none" cap="none" strike="noStrike">
                          <a:solidFill>
                            <a:srgbClr val="3F3F3F"/>
                          </a:solidFill>
                          <a:latin typeface="Arial"/>
                          <a:ea typeface="Arial"/>
                          <a:cs typeface="Arial"/>
                          <a:sym typeface="Arial"/>
                        </a:rPr>
                        <a:t>logged only</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365750">
                <a:tc>
                  <a:txBody>
                    <a:bodyPr/>
                    <a:lstStyle/>
                    <a:p>
                      <a:pPr indent="0" lvl="0" marL="0" marR="0" rtl="0" algn="l">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BloodChain</a:t>
                      </a:r>
                      <a:endParaRPr sz="10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yes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yes — public</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ENFORCED</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00000"/>
                    </a:solidFill>
                  </a:tcPr>
                </a:tc>
              </a:tr>
            </a:tbl>
          </a:graphicData>
        </a:graphic>
      </p:graphicFrame>
      <p:sp>
        <p:nvSpPr>
          <p:cNvPr id="109" name="Google Shape;109;p7"/>
          <p:cNvSpPr/>
          <p:nvPr/>
        </p:nvSpPr>
        <p:spPr>
          <a:xfrm>
            <a:off x="960120" y="3401568"/>
            <a:ext cx="7223760" cy="786384"/>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1088136" y="3401568"/>
            <a:ext cx="6967728" cy="786384"/>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Everything on this list records the rule after the fact.</a:t>
            </a:r>
            <a:endParaRPr b="0" i="0" sz="14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We are the only row that makes breaking it impossible.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g3f3bfaa2f2f_0_175"/>
          <p:cNvSpPr/>
          <p:nvPr/>
        </p:nvSpPr>
        <p:spPr>
          <a:xfrm>
            <a:off x="411480" y="3086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000"/>
              <a:buFont typeface="Calibri"/>
              <a:buNone/>
            </a:pPr>
            <a:r>
              <a:rPr b="1" i="0" lang="en-US" sz="1000" u="none" cap="none" strike="noStrike">
                <a:solidFill>
                  <a:srgbClr val="00A896"/>
                </a:solidFill>
                <a:latin typeface="Calibri"/>
                <a:ea typeface="Calibri"/>
                <a:cs typeface="Calibri"/>
                <a:sym typeface="Calibri"/>
              </a:rPr>
              <a:t>2.1 / 2.2</a:t>
            </a:r>
            <a:endParaRPr b="0" i="0" sz="1000" u="none" cap="none" strike="noStrike">
              <a:solidFill>
                <a:schemeClr val="dk1"/>
              </a:solidFill>
              <a:latin typeface="Calibri"/>
              <a:ea typeface="Calibri"/>
              <a:cs typeface="Calibri"/>
              <a:sym typeface="Calibri"/>
            </a:endParaRPr>
          </a:p>
        </p:txBody>
      </p:sp>
      <p:sp>
        <p:nvSpPr>
          <p:cNvPr id="126" name="Google Shape;126;g3f3bfaa2f2f_0_175"/>
          <p:cNvSpPr/>
          <p:nvPr/>
        </p:nvSpPr>
        <p:spPr>
          <a:xfrm>
            <a:off x="411480" y="534924"/>
            <a:ext cx="74064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2E"/>
              </a:buClr>
              <a:buSzPts val="2300"/>
              <a:buFont typeface="Cambria"/>
              <a:buNone/>
            </a:pPr>
            <a:r>
              <a:rPr b="1" i="0" lang="en-US" sz="2300" u="none" cap="none" strike="noStrike">
                <a:solidFill>
                  <a:srgbClr val="1B2B2E"/>
                </a:solidFill>
                <a:latin typeface="Cambria"/>
                <a:ea typeface="Cambria"/>
                <a:cs typeface="Cambria"/>
                <a:sym typeface="Cambria"/>
              </a:rPr>
              <a:t>Market Size, and Regulatory Fit</a:t>
            </a:r>
            <a:endParaRPr b="0" i="0" sz="2300" u="none" cap="none" strike="noStrike">
              <a:solidFill>
                <a:schemeClr val="dk1"/>
              </a:solidFill>
              <a:latin typeface="Calibri"/>
              <a:ea typeface="Calibri"/>
              <a:cs typeface="Calibri"/>
              <a:sym typeface="Calibri"/>
            </a:endParaRPr>
          </a:p>
        </p:txBody>
      </p:sp>
      <p:sp>
        <p:nvSpPr>
          <p:cNvPr id="127" name="Google Shape;127;g3f3bfaa2f2f_0_175"/>
          <p:cNvSpPr/>
          <p:nvPr/>
        </p:nvSpPr>
        <p:spPr>
          <a:xfrm>
            <a:off x="411480" y="946404"/>
            <a:ext cx="740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275"/>
              </a:buClr>
              <a:buSzPts val="1100"/>
              <a:buFont typeface="Calibri"/>
              <a:buNone/>
            </a:pPr>
            <a:r>
              <a:rPr b="0" i="1" lang="en-US" sz="1100" u="none" cap="none" strike="noStrike">
                <a:solidFill>
                  <a:srgbClr val="5B7275"/>
                </a:solidFill>
                <a:latin typeface="Calibri"/>
                <a:ea typeface="Calibri"/>
                <a:cs typeface="Calibri"/>
                <a:sym typeface="Calibri"/>
              </a:rPr>
              <a:t>A government set tariff, not a market to win share of</a:t>
            </a:r>
            <a:endParaRPr b="0" i="0" sz="1100" u="none" cap="none" strike="noStrike">
              <a:solidFill>
                <a:schemeClr val="dk1"/>
              </a:solidFill>
              <a:latin typeface="Calibri"/>
              <a:ea typeface="Calibri"/>
              <a:cs typeface="Calibri"/>
              <a:sym typeface="Calibri"/>
            </a:endParaRPr>
          </a:p>
        </p:txBody>
      </p:sp>
      <p:sp>
        <p:nvSpPr>
          <p:cNvPr id="128" name="Google Shape;128;g3f3bfaa2f2f_0_175"/>
          <p:cNvSpPr/>
          <p:nvPr/>
        </p:nvSpPr>
        <p:spPr>
          <a:xfrm>
            <a:off x="411480" y="1371600"/>
            <a:ext cx="2640300" cy="925800"/>
          </a:xfrm>
          <a:prstGeom prst="roundRect">
            <a:avLst>
              <a:gd fmla="val 5926" name="adj"/>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 name="Google Shape;129;g3f3bfaa2f2f_0_175"/>
          <p:cNvSpPr/>
          <p:nvPr/>
        </p:nvSpPr>
        <p:spPr>
          <a:xfrm>
            <a:off x="582930" y="1467612"/>
            <a:ext cx="2297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lang="en-US" sz="1800">
                <a:solidFill>
                  <a:srgbClr val="FFFFFF"/>
                </a:solidFill>
                <a:latin typeface="Cambria"/>
                <a:ea typeface="Cambria"/>
                <a:cs typeface="Cambria"/>
                <a:sym typeface="Cambria"/>
              </a:rPr>
              <a:t>263,702</a:t>
            </a:r>
            <a:endParaRPr sz="1800">
              <a:solidFill>
                <a:schemeClr val="dk1"/>
              </a:solidFill>
              <a:latin typeface="Calibri"/>
              <a:ea typeface="Calibri"/>
              <a:cs typeface="Calibri"/>
              <a:sym typeface="Calibri"/>
            </a:endParaRPr>
          </a:p>
        </p:txBody>
      </p:sp>
      <p:sp>
        <p:nvSpPr>
          <p:cNvPr id="130" name="Google Shape;130;g3f3bfaa2f2f_0_175"/>
          <p:cNvSpPr/>
          <p:nvPr/>
        </p:nvSpPr>
        <p:spPr>
          <a:xfrm>
            <a:off x="582930" y="1824228"/>
            <a:ext cx="2297400" cy="44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4F3F0"/>
              </a:buClr>
              <a:buSzPts val="800"/>
              <a:buFont typeface="Calibri"/>
              <a:buNone/>
            </a:pPr>
            <a:r>
              <a:rPr lang="en-US" sz="800">
                <a:solidFill>
                  <a:srgbClr val="E4F3F0"/>
                </a:solidFill>
                <a:latin typeface="Calibri"/>
                <a:ea typeface="Calibri"/>
                <a:cs typeface="Calibri"/>
                <a:sym typeface="Calibri"/>
              </a:rPr>
              <a:t>units collected nationally in 2023, across Swiss Transfusion SRC and 11 regional services</a:t>
            </a:r>
            <a:endParaRPr sz="800">
              <a:solidFill>
                <a:schemeClr val="dk1"/>
              </a:solidFill>
              <a:latin typeface="Calibri"/>
              <a:ea typeface="Calibri"/>
              <a:cs typeface="Calibri"/>
              <a:sym typeface="Calibri"/>
            </a:endParaRPr>
          </a:p>
        </p:txBody>
      </p:sp>
      <p:sp>
        <p:nvSpPr>
          <p:cNvPr id="131" name="Google Shape;131;g3f3bfaa2f2f_0_175"/>
          <p:cNvSpPr/>
          <p:nvPr/>
        </p:nvSpPr>
        <p:spPr>
          <a:xfrm>
            <a:off x="3257550" y="1371600"/>
            <a:ext cx="2640300" cy="925800"/>
          </a:xfrm>
          <a:prstGeom prst="roundRect">
            <a:avLst>
              <a:gd fmla="val 5926" name="adj"/>
            </a:avLst>
          </a:prstGeom>
          <a:solidFill>
            <a:srgbClr val="F4F8F7"/>
          </a:solidFill>
          <a:ln cap="flat" cmpd="sng" w="9525">
            <a:solidFill>
              <a:srgbClr val="DCE6E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 name="Google Shape;132;g3f3bfaa2f2f_0_175"/>
          <p:cNvSpPr/>
          <p:nvPr/>
        </p:nvSpPr>
        <p:spPr>
          <a:xfrm>
            <a:off x="3429000" y="1467612"/>
            <a:ext cx="2297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800"/>
              <a:buFont typeface="Cambria"/>
              <a:buNone/>
            </a:pPr>
            <a:r>
              <a:rPr b="1" lang="en-US" sz="1800">
                <a:solidFill>
                  <a:srgbClr val="028090"/>
                </a:solidFill>
                <a:latin typeface="Cambria"/>
                <a:ea typeface="Cambria"/>
                <a:cs typeface="Cambria"/>
                <a:sym typeface="Cambria"/>
              </a:rPr>
              <a:t>Since 1951</a:t>
            </a:r>
            <a:endParaRPr sz="1800">
              <a:solidFill>
                <a:schemeClr val="dk1"/>
              </a:solidFill>
              <a:latin typeface="Calibri"/>
              <a:ea typeface="Calibri"/>
              <a:cs typeface="Calibri"/>
              <a:sym typeface="Calibri"/>
            </a:endParaRPr>
          </a:p>
        </p:txBody>
      </p:sp>
      <p:sp>
        <p:nvSpPr>
          <p:cNvPr id="133" name="Google Shape;133;g3f3bfaa2f2f_0_175"/>
          <p:cNvSpPr/>
          <p:nvPr/>
        </p:nvSpPr>
        <p:spPr>
          <a:xfrm>
            <a:off x="3429000" y="1824228"/>
            <a:ext cx="2297400" cy="44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5B7275"/>
              </a:buClr>
              <a:buSzPts val="800"/>
              <a:buFont typeface="Calibri"/>
              <a:buNone/>
            </a:pPr>
            <a:r>
              <a:rPr lang="en-US" sz="800">
                <a:solidFill>
                  <a:srgbClr val="5B7275"/>
                </a:solidFill>
                <a:latin typeface="Calibri"/>
                <a:ea typeface="Calibri"/>
                <a:cs typeface="Calibri"/>
                <a:sym typeface="Calibri"/>
              </a:rPr>
              <a:t>the umbrella organization and regional services have operated as non profit</a:t>
            </a:r>
            <a:endParaRPr sz="800">
              <a:solidFill>
                <a:schemeClr val="dk1"/>
              </a:solidFill>
              <a:latin typeface="Calibri"/>
              <a:ea typeface="Calibri"/>
              <a:cs typeface="Calibri"/>
              <a:sym typeface="Calibri"/>
            </a:endParaRPr>
          </a:p>
        </p:txBody>
      </p:sp>
      <p:sp>
        <p:nvSpPr>
          <p:cNvPr id="134" name="Google Shape;134;g3f3bfaa2f2f_0_175"/>
          <p:cNvSpPr/>
          <p:nvPr/>
        </p:nvSpPr>
        <p:spPr>
          <a:xfrm>
            <a:off x="6103620" y="1371600"/>
            <a:ext cx="2640300" cy="925800"/>
          </a:xfrm>
          <a:prstGeom prst="roundRect">
            <a:avLst>
              <a:gd fmla="val 5926" name="adj"/>
            </a:avLst>
          </a:prstGeom>
          <a:solidFill>
            <a:srgbClr val="F4F8F7"/>
          </a:solidFill>
          <a:ln cap="flat" cmpd="sng" w="9525">
            <a:solidFill>
              <a:srgbClr val="DCE6E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 name="Google Shape;135;g3f3bfaa2f2f_0_175"/>
          <p:cNvSpPr/>
          <p:nvPr/>
        </p:nvSpPr>
        <p:spPr>
          <a:xfrm>
            <a:off x="6275070" y="1467612"/>
            <a:ext cx="2297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800"/>
              <a:buFont typeface="Cambria"/>
              <a:buNone/>
            </a:pPr>
            <a:r>
              <a:rPr b="1" lang="en-US" sz="1800">
                <a:solidFill>
                  <a:srgbClr val="028090"/>
                </a:solidFill>
                <a:latin typeface="Cambria"/>
                <a:ea typeface="Cambria"/>
                <a:cs typeface="Cambria"/>
                <a:sym typeface="Cambria"/>
              </a:rPr>
              <a:t>~$0.04</a:t>
            </a:r>
            <a:endParaRPr sz="1800">
              <a:solidFill>
                <a:schemeClr val="dk1"/>
              </a:solidFill>
              <a:latin typeface="Calibri"/>
              <a:ea typeface="Calibri"/>
              <a:cs typeface="Calibri"/>
              <a:sym typeface="Calibri"/>
            </a:endParaRPr>
          </a:p>
        </p:txBody>
      </p:sp>
      <p:sp>
        <p:nvSpPr>
          <p:cNvPr id="136" name="Google Shape;136;g3f3bfaa2f2f_0_175"/>
          <p:cNvSpPr/>
          <p:nvPr/>
        </p:nvSpPr>
        <p:spPr>
          <a:xfrm>
            <a:off x="6275070" y="1824228"/>
            <a:ext cx="2297400" cy="44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5B7275"/>
              </a:buClr>
              <a:buSzPts val="800"/>
              <a:buFont typeface="Calibri"/>
              <a:buNone/>
            </a:pPr>
            <a:r>
              <a:rPr lang="en-US" sz="800">
                <a:solidFill>
                  <a:srgbClr val="5B7275"/>
                </a:solidFill>
                <a:latin typeface="Calibri"/>
                <a:ea typeface="Calibri"/>
                <a:cs typeface="Calibri"/>
                <a:sym typeface="Calibri"/>
              </a:rPr>
              <a:t>network fee per unit, small enough to sit inside existing cost recovery pricing</a:t>
            </a:r>
            <a:endParaRPr sz="800">
              <a:solidFill>
                <a:schemeClr val="dk1"/>
              </a:solidFill>
              <a:latin typeface="Calibri"/>
              <a:ea typeface="Calibri"/>
              <a:cs typeface="Calibri"/>
              <a:sym typeface="Calibri"/>
            </a:endParaRPr>
          </a:p>
        </p:txBody>
      </p:sp>
      <p:sp>
        <p:nvSpPr>
          <p:cNvPr id="137" name="Google Shape;137;g3f3bfaa2f2f_0_175"/>
          <p:cNvSpPr/>
          <p:nvPr/>
        </p:nvSpPr>
        <p:spPr>
          <a:xfrm>
            <a:off x="411480" y="2468880"/>
            <a:ext cx="4011900" cy="2263200"/>
          </a:xfrm>
          <a:prstGeom prst="roundRect">
            <a:avLst>
              <a:gd fmla="val 3030" name="adj"/>
            </a:avLst>
          </a:prstGeom>
          <a:solidFill>
            <a:srgbClr val="F4F8F7"/>
          </a:solidFill>
          <a:ln cap="flat" cmpd="sng" w="9525">
            <a:solidFill>
              <a:srgbClr val="DCE6E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 name="Google Shape;138;g3f3bfaa2f2f_0_175"/>
          <p:cNvSpPr/>
          <p:nvPr/>
        </p:nvSpPr>
        <p:spPr>
          <a:xfrm>
            <a:off x="651510" y="2660904"/>
            <a:ext cx="35319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900"/>
              <a:buFont typeface="Calibri"/>
              <a:buNone/>
            </a:pPr>
            <a:r>
              <a:rPr b="1" lang="en-US" sz="900">
                <a:solidFill>
                  <a:srgbClr val="028090"/>
                </a:solidFill>
                <a:latin typeface="Calibri"/>
                <a:ea typeface="Calibri"/>
                <a:cs typeface="Calibri"/>
                <a:sym typeface="Calibri"/>
              </a:rPr>
              <a:t>MARKET STRUCTURE</a:t>
            </a:r>
            <a:endParaRPr sz="900">
              <a:solidFill>
                <a:schemeClr val="dk1"/>
              </a:solidFill>
              <a:latin typeface="Calibri"/>
              <a:ea typeface="Calibri"/>
              <a:cs typeface="Calibri"/>
              <a:sym typeface="Calibri"/>
            </a:endParaRPr>
          </a:p>
        </p:txBody>
      </p:sp>
      <p:sp>
        <p:nvSpPr>
          <p:cNvPr id="139" name="Google Shape;139;g3f3bfaa2f2f_0_175"/>
          <p:cNvSpPr/>
          <p:nvPr/>
        </p:nvSpPr>
        <p:spPr>
          <a:xfrm>
            <a:off x="651510" y="2935224"/>
            <a:ext cx="3531900" cy="164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7275"/>
              </a:buClr>
              <a:buSzPts val="900"/>
              <a:buFont typeface="Calibri"/>
              <a:buNone/>
            </a:pPr>
            <a:r>
              <a:rPr lang="en-US" sz="900">
                <a:solidFill>
                  <a:srgbClr val="5B7275"/>
                </a:solidFill>
                <a:latin typeface="Calibri"/>
                <a:ea typeface="Calibri"/>
                <a:cs typeface="Calibri"/>
                <a:sym typeface="Calibri"/>
              </a:rPr>
              <a:t>Blood is sold to hospitals at cost price, set directly by the Swiss government for the most important blood products.</a:t>
            </a:r>
            <a:endParaRPr sz="900">
              <a:solidFill>
                <a:schemeClr val="dk1"/>
              </a:solidFill>
              <a:latin typeface="Calibri"/>
              <a:ea typeface="Calibri"/>
              <a:cs typeface="Calibri"/>
              <a:sym typeface="Calibri"/>
            </a:endParaRPr>
          </a:p>
          <a:p>
            <a:pPr indent="0" lvl="0" marL="0" marR="0" rtl="0" algn="l">
              <a:lnSpc>
                <a:spcPct val="120000"/>
              </a:lnSpc>
              <a:spcBef>
                <a:spcPts val="800"/>
              </a:spcBef>
              <a:spcAft>
                <a:spcPts val="0"/>
              </a:spcAft>
              <a:buClr>
                <a:srgbClr val="5B7275"/>
              </a:buClr>
              <a:buSzPts val="900"/>
              <a:buFont typeface="Calibri"/>
              <a:buNone/>
            </a:pPr>
            <a:r>
              <a:rPr lang="en-US" sz="900">
                <a:solidFill>
                  <a:srgbClr val="5B7275"/>
                </a:solidFill>
                <a:latin typeface="Calibri"/>
                <a:ea typeface="Calibri"/>
                <a:cs typeface="Calibri"/>
                <a:sym typeface="Calibri"/>
              </a:rPr>
              <a:t>There is no market price to win share of, only a tariff that already pays the existing supply chain.</a:t>
            </a:r>
            <a:endParaRPr sz="900">
              <a:solidFill>
                <a:schemeClr val="dk1"/>
              </a:solidFill>
              <a:latin typeface="Calibri"/>
              <a:ea typeface="Calibri"/>
              <a:cs typeface="Calibri"/>
              <a:sym typeface="Calibri"/>
            </a:endParaRPr>
          </a:p>
          <a:p>
            <a:pPr indent="0" lvl="0" marL="0" marR="0" rtl="0" algn="l">
              <a:lnSpc>
                <a:spcPct val="120000"/>
              </a:lnSpc>
              <a:spcBef>
                <a:spcPts val="800"/>
              </a:spcBef>
              <a:spcAft>
                <a:spcPts val="0"/>
              </a:spcAft>
              <a:buClr>
                <a:srgbClr val="5B7275"/>
              </a:buClr>
              <a:buSzPts val="900"/>
              <a:buFont typeface="Calibri"/>
              <a:buNone/>
            </a:pPr>
            <a:r>
              <a:rPr lang="en-US" sz="900">
                <a:solidFill>
                  <a:srgbClr val="5B7275"/>
                </a:solidFill>
                <a:latin typeface="Calibri"/>
                <a:ea typeface="Calibri"/>
                <a:cs typeface="Calibri"/>
                <a:sym typeface="Calibri"/>
              </a:rPr>
              <a:t>Any BloodChain related cost must fit inside that tariff, not add a new line on top of it.</a:t>
            </a:r>
            <a:endParaRPr sz="900">
              <a:solidFill>
                <a:schemeClr val="dk1"/>
              </a:solidFill>
              <a:latin typeface="Calibri"/>
              <a:ea typeface="Calibri"/>
              <a:cs typeface="Calibri"/>
              <a:sym typeface="Calibri"/>
            </a:endParaRPr>
          </a:p>
        </p:txBody>
      </p:sp>
      <p:sp>
        <p:nvSpPr>
          <p:cNvPr id="140" name="Google Shape;140;g3f3bfaa2f2f_0_175"/>
          <p:cNvSpPr/>
          <p:nvPr/>
        </p:nvSpPr>
        <p:spPr>
          <a:xfrm>
            <a:off x="4629150" y="2468880"/>
            <a:ext cx="4011900" cy="2263200"/>
          </a:xfrm>
          <a:prstGeom prst="roundRect">
            <a:avLst>
              <a:gd fmla="val 3030" name="adj"/>
            </a:avLst>
          </a:prstGeom>
          <a:solidFill>
            <a:srgbClr val="028090"/>
          </a:solidFill>
          <a:ln>
            <a:noFill/>
          </a:ln>
          <a:effectLst>
            <a:outerShdw blurRad="76200" rotWithShape="0" algn="bl" dir="5400000" dist="28575">
              <a:srgbClr val="1B2B2E">
                <a:alpha val="2196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 name="Google Shape;141;g3f3bfaa2f2f_0_175"/>
          <p:cNvSpPr/>
          <p:nvPr/>
        </p:nvSpPr>
        <p:spPr>
          <a:xfrm>
            <a:off x="4869180" y="2660904"/>
            <a:ext cx="35319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900"/>
              <a:buFont typeface="Calibri"/>
              <a:buNone/>
            </a:pPr>
            <a:r>
              <a:rPr b="1" lang="en-US" sz="900">
                <a:solidFill>
                  <a:srgbClr val="02C39A"/>
                </a:solidFill>
                <a:latin typeface="Calibri"/>
                <a:ea typeface="Calibri"/>
                <a:cs typeface="Calibri"/>
                <a:sym typeface="Calibri"/>
              </a:rPr>
              <a:t>REGULATORY FIT</a:t>
            </a:r>
            <a:endParaRPr sz="900">
              <a:solidFill>
                <a:schemeClr val="dk1"/>
              </a:solidFill>
              <a:latin typeface="Calibri"/>
              <a:ea typeface="Calibri"/>
              <a:cs typeface="Calibri"/>
              <a:sym typeface="Calibri"/>
            </a:endParaRPr>
          </a:p>
        </p:txBody>
      </p:sp>
      <p:sp>
        <p:nvSpPr>
          <p:cNvPr id="142" name="Google Shape;142;g3f3bfaa2f2f_0_175"/>
          <p:cNvSpPr/>
          <p:nvPr/>
        </p:nvSpPr>
        <p:spPr>
          <a:xfrm>
            <a:off x="4869180" y="2935224"/>
            <a:ext cx="3531900" cy="164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4F3F0"/>
              </a:buClr>
              <a:buSzPts val="900"/>
              <a:buFont typeface="Calibri"/>
              <a:buNone/>
            </a:pPr>
            <a:r>
              <a:rPr lang="en-US" sz="900">
                <a:solidFill>
                  <a:srgbClr val="E4F3F0"/>
                </a:solidFill>
                <a:latin typeface="Calibri"/>
                <a:ea typeface="Calibri"/>
                <a:cs typeface="Calibri"/>
                <a:sym typeface="Calibri"/>
              </a:rPr>
              <a:t>Traceability is a legal obligation, not a goal to be reached. A look back procedure can be triggered years after a transfusion.</a:t>
            </a:r>
            <a:endParaRPr sz="900">
              <a:solidFill>
                <a:schemeClr val="dk1"/>
              </a:solidFill>
              <a:latin typeface="Calibri"/>
              <a:ea typeface="Calibri"/>
              <a:cs typeface="Calibri"/>
              <a:sym typeface="Calibri"/>
            </a:endParaRPr>
          </a:p>
          <a:p>
            <a:pPr indent="0" lvl="0" marL="0" marR="0" rtl="0" algn="l">
              <a:lnSpc>
                <a:spcPct val="120000"/>
              </a:lnSpc>
              <a:spcBef>
                <a:spcPts val="800"/>
              </a:spcBef>
              <a:spcAft>
                <a:spcPts val="0"/>
              </a:spcAft>
              <a:buClr>
                <a:srgbClr val="E4F3F0"/>
              </a:buClr>
              <a:buSzPts val="900"/>
              <a:buFont typeface="Calibri"/>
              <a:buNone/>
            </a:pPr>
            <a:r>
              <a:rPr lang="en-US" sz="900">
                <a:solidFill>
                  <a:srgbClr val="E4F3F0"/>
                </a:solidFill>
                <a:latin typeface="Calibri"/>
                <a:ea typeface="Calibri"/>
                <a:cs typeface="Calibri"/>
                <a:sym typeface="Calibri"/>
              </a:rPr>
              <a:t>Blood services already sit under three layers of control: Swissmedic audits, cantonal pharmacists, and the Haemovigilance unit.</a:t>
            </a:r>
            <a:endParaRPr sz="900">
              <a:solidFill>
                <a:schemeClr val="dk1"/>
              </a:solidFill>
              <a:latin typeface="Calibri"/>
              <a:ea typeface="Calibri"/>
              <a:cs typeface="Calibri"/>
              <a:sym typeface="Calibri"/>
            </a:endParaRPr>
          </a:p>
          <a:p>
            <a:pPr indent="0" lvl="0" marL="0" marR="0" rtl="0" algn="l">
              <a:lnSpc>
                <a:spcPct val="120000"/>
              </a:lnSpc>
              <a:spcBef>
                <a:spcPts val="800"/>
              </a:spcBef>
              <a:spcAft>
                <a:spcPts val="0"/>
              </a:spcAft>
              <a:buClr>
                <a:srgbClr val="E4F3F0"/>
              </a:buClr>
              <a:buSzPts val="900"/>
              <a:buFont typeface="Calibri"/>
              <a:buNone/>
            </a:pPr>
            <a:r>
              <a:rPr lang="en-US" sz="900">
                <a:solidFill>
                  <a:srgbClr val="E4F3F0"/>
                </a:solidFill>
                <a:latin typeface="Calibri"/>
                <a:ea typeface="Calibri"/>
                <a:cs typeface="Calibri"/>
                <a:sym typeface="Calibri"/>
              </a:rPr>
              <a:t>BloodChain does not replace the mandate. It replaces manual, service by service cross referencing with one shared, append only history.</a:t>
            </a:r>
            <a:endParaRPr sz="900">
              <a:solidFill>
                <a:schemeClr val="dk1"/>
              </a:solidFill>
              <a:latin typeface="Calibri"/>
              <a:ea typeface="Calibri"/>
              <a:cs typeface="Calibri"/>
              <a:sym typeface="Calibri"/>
            </a:endParaRPr>
          </a:p>
        </p:txBody>
      </p:sp>
      <p:sp>
        <p:nvSpPr>
          <p:cNvPr id="143" name="Google Shape;143;g3f3bfaa2f2f_0_175"/>
          <p:cNvSpPr/>
          <p:nvPr/>
        </p:nvSpPr>
        <p:spPr>
          <a:xfrm>
            <a:off x="411480" y="4834890"/>
            <a:ext cx="8160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B7B9"/>
              </a:buClr>
              <a:buSzPts val="700"/>
              <a:buFont typeface="Calibri"/>
              <a:buNone/>
            </a:pPr>
            <a:r>
              <a:rPr lang="en-US" sz="700">
                <a:solidFill>
                  <a:srgbClr val="A9B7B9"/>
                </a:solidFill>
                <a:latin typeface="Calibri"/>
                <a:ea typeface="Calibri"/>
                <a:cs typeface="Calibri"/>
                <a:sym typeface="Calibri"/>
              </a:rPr>
              <a:t>Sources: Swiss Transfusion SRC, 2024  •  European Blood Alliance, n.d.  •  Swissmedic, 2022  •  Hedera, 2026</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99" name="Shape 199"/>
        <p:cNvGrpSpPr/>
        <p:nvPr/>
      </p:nvGrpSpPr>
      <p:grpSpPr>
        <a:xfrm>
          <a:off x="0" y="0"/>
          <a:ext cx="0" cy="0"/>
          <a:chOff x="0" y="0"/>
          <a:chExt cx="0" cy="0"/>
        </a:xfrm>
      </p:grpSpPr>
      <p:pic>
        <p:nvPicPr>
          <p:cNvPr descr="/sessions/zen-gracious-knuth/mnt/outputs/uzh_logos.png" id="200" name="Google Shape;200;p9"/>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201" name="Google Shape;201;p9"/>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202" name="Google Shape;202;p9"/>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9</a:t>
            </a:r>
            <a:endParaRPr b="0" i="0" sz="800" u="none" cap="none" strike="noStrike">
              <a:solidFill>
                <a:schemeClr val="dk1"/>
              </a:solidFill>
              <a:latin typeface="Calibri"/>
              <a:ea typeface="Calibri"/>
              <a:cs typeface="Calibri"/>
              <a:sym typeface="Calibri"/>
            </a:endParaRPr>
          </a:p>
        </p:txBody>
      </p:sp>
      <p:sp>
        <p:nvSpPr>
          <p:cNvPr id="203" name="Google Shape;203;p9"/>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Why not just build a shared database?</a:t>
            </a:r>
            <a:endParaRPr b="0" i="0" sz="2600" u="none" cap="none" strike="noStrike">
              <a:solidFill>
                <a:schemeClr val="dk1"/>
              </a:solidFill>
              <a:latin typeface="Calibri"/>
              <a:ea typeface="Calibri"/>
              <a:cs typeface="Calibri"/>
              <a:sym typeface="Calibri"/>
            </a:endParaRPr>
          </a:p>
        </p:txBody>
      </p:sp>
      <p:sp>
        <p:nvSpPr>
          <p:cNvPr id="204" name="Google Shape;204;p9"/>
          <p:cNvSpPr/>
          <p:nvPr/>
        </p:nvSpPr>
        <p:spPr>
          <a:xfrm>
            <a:off x="411480" y="1024128"/>
            <a:ext cx="4041648" cy="438912"/>
          </a:xfrm>
          <a:prstGeom prst="rect">
            <a:avLst/>
          </a:prstGeom>
          <a:solidFill>
            <a:srgbClr val="6E6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557784" y="1024128"/>
            <a:ext cx="37490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 shared database</a:t>
            </a:r>
            <a:endParaRPr b="0" i="0" sz="1400" u="none" cap="none" strike="noStrike">
              <a:solidFill>
                <a:schemeClr val="dk1"/>
              </a:solidFill>
              <a:latin typeface="Calibri"/>
              <a:ea typeface="Calibri"/>
              <a:cs typeface="Calibri"/>
              <a:sym typeface="Calibri"/>
            </a:endParaRPr>
          </a:p>
        </p:txBody>
      </p:sp>
      <p:sp>
        <p:nvSpPr>
          <p:cNvPr id="206" name="Google Shape;206;p9"/>
          <p:cNvSpPr/>
          <p:nvPr/>
        </p:nvSpPr>
        <p:spPr>
          <a:xfrm>
            <a:off x="429768" y="1655064"/>
            <a:ext cx="274320" cy="274320"/>
          </a:xfrm>
          <a:prstGeom prst="ellipse">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heck.png" id="207" name="Google Shape;207;p9"/>
          <p:cNvPicPr preferRelativeResize="0"/>
          <p:nvPr/>
        </p:nvPicPr>
        <p:blipFill rotWithShape="1">
          <a:blip r:embed="rId4">
            <a:alphaModFix/>
          </a:blip>
          <a:srcRect b="0" l="0" r="0" t="0"/>
          <a:stretch/>
        </p:blipFill>
        <p:spPr>
          <a:xfrm>
            <a:off x="480060" y="1705356"/>
            <a:ext cx="173736" cy="173736"/>
          </a:xfrm>
          <a:prstGeom prst="rect">
            <a:avLst/>
          </a:prstGeom>
          <a:noFill/>
          <a:ln>
            <a:noFill/>
          </a:ln>
        </p:spPr>
      </p:pic>
      <p:sp>
        <p:nvSpPr>
          <p:cNvPr id="208" name="Google Shape;208;p9"/>
          <p:cNvSpPr/>
          <p:nvPr/>
        </p:nvSpPr>
        <p:spPr>
          <a:xfrm>
            <a:off x="795528" y="162763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Fixes fragmentation — everyone sees one record</a:t>
            </a:r>
            <a:endParaRPr b="0" i="0" sz="1150" u="none" cap="none" strike="noStrike">
              <a:solidFill>
                <a:schemeClr val="dk1"/>
              </a:solidFill>
              <a:latin typeface="Calibri"/>
              <a:ea typeface="Calibri"/>
              <a:cs typeface="Calibri"/>
              <a:sym typeface="Calibri"/>
            </a:endParaRPr>
          </a:p>
        </p:txBody>
      </p:sp>
      <p:sp>
        <p:nvSpPr>
          <p:cNvPr id="209" name="Google Shape;209;p9"/>
          <p:cNvSpPr/>
          <p:nvPr/>
        </p:nvSpPr>
        <p:spPr>
          <a:xfrm>
            <a:off x="429768" y="2203704"/>
            <a:ext cx="274320" cy="274320"/>
          </a:xfrm>
          <a:prstGeom prst="ellipse">
            <a:avLst/>
          </a:pr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xcirc.png" id="210" name="Google Shape;210;p9"/>
          <p:cNvPicPr preferRelativeResize="0"/>
          <p:nvPr/>
        </p:nvPicPr>
        <p:blipFill rotWithShape="1">
          <a:blip r:embed="rId5">
            <a:alphaModFix/>
          </a:blip>
          <a:srcRect b="0" l="0" r="0" t="0"/>
          <a:stretch/>
        </p:blipFill>
        <p:spPr>
          <a:xfrm>
            <a:off x="480060" y="2253996"/>
            <a:ext cx="173736" cy="173736"/>
          </a:xfrm>
          <a:prstGeom prst="rect">
            <a:avLst/>
          </a:prstGeom>
          <a:noFill/>
          <a:ln>
            <a:noFill/>
          </a:ln>
        </p:spPr>
      </p:pic>
      <p:sp>
        <p:nvSpPr>
          <p:cNvPr id="211" name="Google Shape;211;p9"/>
          <p:cNvSpPr/>
          <p:nvPr/>
        </p:nvSpPr>
        <p:spPr>
          <a:xfrm>
            <a:off x="795528" y="217627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Somebody must own and administer it</a:t>
            </a:r>
            <a:endParaRPr b="0" i="0" sz="1150" u="none" cap="none" strike="noStrike">
              <a:solidFill>
                <a:schemeClr val="dk1"/>
              </a:solidFill>
              <a:latin typeface="Calibri"/>
              <a:ea typeface="Calibri"/>
              <a:cs typeface="Calibri"/>
              <a:sym typeface="Calibri"/>
            </a:endParaRPr>
          </a:p>
        </p:txBody>
      </p:sp>
      <p:sp>
        <p:nvSpPr>
          <p:cNvPr id="212" name="Google Shape;212;p9"/>
          <p:cNvSpPr/>
          <p:nvPr/>
        </p:nvSpPr>
        <p:spPr>
          <a:xfrm>
            <a:off x="429768" y="2752344"/>
            <a:ext cx="274320" cy="274320"/>
          </a:xfrm>
          <a:prstGeom prst="ellipse">
            <a:avLst/>
          </a:pr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xcirc.png" id="213" name="Google Shape;213;p9"/>
          <p:cNvPicPr preferRelativeResize="0"/>
          <p:nvPr/>
        </p:nvPicPr>
        <p:blipFill rotWithShape="1">
          <a:blip r:embed="rId5">
            <a:alphaModFix/>
          </a:blip>
          <a:srcRect b="0" l="0" r="0" t="0"/>
          <a:stretch/>
        </p:blipFill>
        <p:spPr>
          <a:xfrm>
            <a:off x="480060" y="2802636"/>
            <a:ext cx="173736" cy="173736"/>
          </a:xfrm>
          <a:prstGeom prst="rect">
            <a:avLst/>
          </a:prstGeom>
          <a:noFill/>
          <a:ln>
            <a:noFill/>
          </a:ln>
        </p:spPr>
      </p:pic>
      <p:sp>
        <p:nvSpPr>
          <p:cNvPr id="214" name="Google Shape;214;p9"/>
          <p:cNvSpPr/>
          <p:nvPr/>
        </p:nvSpPr>
        <p:spPr>
          <a:xfrm>
            <a:off x="795528" y="272491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That somebody can edit any row</a:t>
            </a:r>
            <a:endParaRPr b="0" i="0" sz="1150" u="none" cap="none" strike="noStrike">
              <a:solidFill>
                <a:schemeClr val="dk1"/>
              </a:solidFill>
              <a:latin typeface="Calibri"/>
              <a:ea typeface="Calibri"/>
              <a:cs typeface="Calibri"/>
              <a:sym typeface="Calibri"/>
            </a:endParaRPr>
          </a:p>
        </p:txBody>
      </p:sp>
      <p:sp>
        <p:nvSpPr>
          <p:cNvPr id="215" name="Google Shape;215;p9"/>
          <p:cNvSpPr/>
          <p:nvPr/>
        </p:nvSpPr>
        <p:spPr>
          <a:xfrm>
            <a:off x="429768" y="3300984"/>
            <a:ext cx="274320" cy="274320"/>
          </a:xfrm>
          <a:prstGeom prst="ellipse">
            <a:avLst/>
          </a:pr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xcirc.png" id="216" name="Google Shape;216;p9"/>
          <p:cNvPicPr preferRelativeResize="0"/>
          <p:nvPr/>
        </p:nvPicPr>
        <p:blipFill rotWithShape="1">
          <a:blip r:embed="rId5">
            <a:alphaModFix/>
          </a:blip>
          <a:srcRect b="0" l="0" r="0" t="0"/>
          <a:stretch/>
        </p:blipFill>
        <p:spPr>
          <a:xfrm>
            <a:off x="480060" y="3351276"/>
            <a:ext cx="173736" cy="173736"/>
          </a:xfrm>
          <a:prstGeom prst="rect">
            <a:avLst/>
          </a:prstGeom>
          <a:noFill/>
          <a:ln>
            <a:noFill/>
          </a:ln>
        </p:spPr>
      </p:pic>
      <p:sp>
        <p:nvSpPr>
          <p:cNvPr id="217" name="Google Shape;217;p9"/>
          <p:cNvSpPr/>
          <p:nvPr/>
        </p:nvSpPr>
        <p:spPr>
          <a:xfrm>
            <a:off x="795528" y="327355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Rules live in application code they control</a:t>
            </a:r>
            <a:endParaRPr b="0" i="0" sz="1150" u="none" cap="none" strike="noStrike">
              <a:solidFill>
                <a:schemeClr val="dk1"/>
              </a:solidFill>
              <a:latin typeface="Calibri"/>
              <a:ea typeface="Calibri"/>
              <a:cs typeface="Calibri"/>
              <a:sym typeface="Calibri"/>
            </a:endParaRPr>
          </a:p>
        </p:txBody>
      </p:sp>
      <p:sp>
        <p:nvSpPr>
          <p:cNvPr id="218" name="Google Shape;218;p9"/>
          <p:cNvSpPr/>
          <p:nvPr/>
        </p:nvSpPr>
        <p:spPr>
          <a:xfrm>
            <a:off x="4690872" y="1024128"/>
            <a:ext cx="4041648" cy="438912"/>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4837176" y="1024128"/>
            <a:ext cx="37490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 public distributed ledger</a:t>
            </a:r>
            <a:endParaRPr b="0" i="0" sz="1400" u="none" cap="none" strike="noStrike">
              <a:solidFill>
                <a:schemeClr val="dk1"/>
              </a:solidFill>
              <a:latin typeface="Calibri"/>
              <a:ea typeface="Calibri"/>
              <a:cs typeface="Calibri"/>
              <a:sym typeface="Calibri"/>
            </a:endParaRPr>
          </a:p>
        </p:txBody>
      </p:sp>
      <p:sp>
        <p:nvSpPr>
          <p:cNvPr id="220" name="Google Shape;220;p9"/>
          <p:cNvSpPr/>
          <p:nvPr/>
        </p:nvSpPr>
        <p:spPr>
          <a:xfrm>
            <a:off x="4709160" y="1655064"/>
            <a:ext cx="274320" cy="274320"/>
          </a:xfrm>
          <a:prstGeom prst="ellipse">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heck.png" id="221" name="Google Shape;221;p9"/>
          <p:cNvPicPr preferRelativeResize="0"/>
          <p:nvPr/>
        </p:nvPicPr>
        <p:blipFill rotWithShape="1">
          <a:blip r:embed="rId4">
            <a:alphaModFix/>
          </a:blip>
          <a:srcRect b="0" l="0" r="0" t="0"/>
          <a:stretch/>
        </p:blipFill>
        <p:spPr>
          <a:xfrm>
            <a:off x="4759452" y="1705356"/>
            <a:ext cx="173736" cy="173736"/>
          </a:xfrm>
          <a:prstGeom prst="rect">
            <a:avLst/>
          </a:prstGeom>
          <a:noFill/>
          <a:ln>
            <a:noFill/>
          </a:ln>
        </p:spPr>
      </p:pic>
      <p:sp>
        <p:nvSpPr>
          <p:cNvPr id="222" name="Google Shape;222;p9"/>
          <p:cNvSpPr/>
          <p:nvPr/>
        </p:nvSpPr>
        <p:spPr>
          <a:xfrm>
            <a:off x="5074920" y="162763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Fixes fragmentation — everyone sees one record</a:t>
            </a:r>
            <a:endParaRPr b="0" i="0" sz="1150" u="none" cap="none" strike="noStrike">
              <a:solidFill>
                <a:schemeClr val="dk1"/>
              </a:solidFill>
              <a:latin typeface="Calibri"/>
              <a:ea typeface="Calibri"/>
              <a:cs typeface="Calibri"/>
              <a:sym typeface="Calibri"/>
            </a:endParaRPr>
          </a:p>
        </p:txBody>
      </p:sp>
      <p:sp>
        <p:nvSpPr>
          <p:cNvPr id="223" name="Google Shape;223;p9"/>
          <p:cNvSpPr/>
          <p:nvPr/>
        </p:nvSpPr>
        <p:spPr>
          <a:xfrm>
            <a:off x="4709160" y="2203704"/>
            <a:ext cx="274320" cy="274320"/>
          </a:xfrm>
          <a:prstGeom prst="ellipse">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heck.png" id="224" name="Google Shape;224;p9"/>
          <p:cNvPicPr preferRelativeResize="0"/>
          <p:nvPr/>
        </p:nvPicPr>
        <p:blipFill rotWithShape="1">
          <a:blip r:embed="rId4">
            <a:alphaModFix/>
          </a:blip>
          <a:srcRect b="0" l="0" r="0" t="0"/>
          <a:stretch/>
        </p:blipFill>
        <p:spPr>
          <a:xfrm>
            <a:off x="4759452" y="2253996"/>
            <a:ext cx="173736" cy="173736"/>
          </a:xfrm>
          <a:prstGeom prst="rect">
            <a:avLst/>
          </a:prstGeom>
          <a:noFill/>
          <a:ln>
            <a:noFill/>
          </a:ln>
        </p:spPr>
      </p:pic>
      <p:sp>
        <p:nvSpPr>
          <p:cNvPr id="225" name="Google Shape;225;p9"/>
          <p:cNvSpPr/>
          <p:nvPr/>
        </p:nvSpPr>
        <p:spPr>
          <a:xfrm>
            <a:off x="5074920" y="217627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No owner: entries cannot be edited or deleted</a:t>
            </a:r>
            <a:endParaRPr b="0" i="0" sz="1150" u="none" cap="none" strike="noStrike">
              <a:solidFill>
                <a:schemeClr val="dk1"/>
              </a:solidFill>
              <a:latin typeface="Calibri"/>
              <a:ea typeface="Calibri"/>
              <a:cs typeface="Calibri"/>
              <a:sym typeface="Calibri"/>
            </a:endParaRPr>
          </a:p>
        </p:txBody>
      </p:sp>
      <p:sp>
        <p:nvSpPr>
          <p:cNvPr id="226" name="Google Shape;226;p9"/>
          <p:cNvSpPr/>
          <p:nvPr/>
        </p:nvSpPr>
        <p:spPr>
          <a:xfrm>
            <a:off x="4709160" y="2752344"/>
            <a:ext cx="274320" cy="274320"/>
          </a:xfrm>
          <a:prstGeom prst="ellipse">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heck.png" id="227" name="Google Shape;227;p9"/>
          <p:cNvPicPr preferRelativeResize="0"/>
          <p:nvPr/>
        </p:nvPicPr>
        <p:blipFill rotWithShape="1">
          <a:blip r:embed="rId4">
            <a:alphaModFix/>
          </a:blip>
          <a:srcRect b="0" l="0" r="0" t="0"/>
          <a:stretch/>
        </p:blipFill>
        <p:spPr>
          <a:xfrm>
            <a:off x="4759452" y="2802636"/>
            <a:ext cx="173736" cy="173736"/>
          </a:xfrm>
          <a:prstGeom prst="rect">
            <a:avLst/>
          </a:prstGeom>
          <a:noFill/>
          <a:ln>
            <a:noFill/>
          </a:ln>
        </p:spPr>
      </p:pic>
      <p:sp>
        <p:nvSpPr>
          <p:cNvPr id="228" name="Google Shape;228;p9"/>
          <p:cNvSpPr/>
          <p:nvPr/>
        </p:nvSpPr>
        <p:spPr>
          <a:xfrm>
            <a:off x="5074920" y="272491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Order of events agreed by consensus, not claimed</a:t>
            </a:r>
            <a:endParaRPr b="0" i="0" sz="1150" u="none" cap="none" strike="noStrike">
              <a:solidFill>
                <a:schemeClr val="dk1"/>
              </a:solidFill>
              <a:latin typeface="Calibri"/>
              <a:ea typeface="Calibri"/>
              <a:cs typeface="Calibri"/>
              <a:sym typeface="Calibri"/>
            </a:endParaRPr>
          </a:p>
        </p:txBody>
      </p:sp>
      <p:sp>
        <p:nvSpPr>
          <p:cNvPr id="229" name="Google Shape;229;p9"/>
          <p:cNvSpPr/>
          <p:nvPr/>
        </p:nvSpPr>
        <p:spPr>
          <a:xfrm>
            <a:off x="4709160" y="3300984"/>
            <a:ext cx="274320" cy="274320"/>
          </a:xfrm>
          <a:prstGeom prst="ellipse">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heck.png" id="230" name="Google Shape;230;p9"/>
          <p:cNvPicPr preferRelativeResize="0"/>
          <p:nvPr/>
        </p:nvPicPr>
        <p:blipFill rotWithShape="1">
          <a:blip r:embed="rId4">
            <a:alphaModFix/>
          </a:blip>
          <a:srcRect b="0" l="0" r="0" t="0"/>
          <a:stretch/>
        </p:blipFill>
        <p:spPr>
          <a:xfrm>
            <a:off x="4759452" y="3351276"/>
            <a:ext cx="173736" cy="173736"/>
          </a:xfrm>
          <a:prstGeom prst="rect">
            <a:avLst/>
          </a:prstGeom>
          <a:noFill/>
          <a:ln>
            <a:noFill/>
          </a:ln>
        </p:spPr>
      </p:pic>
      <p:sp>
        <p:nvSpPr>
          <p:cNvPr id="231" name="Google Shape;231;p9"/>
          <p:cNvSpPr/>
          <p:nvPr/>
        </p:nvSpPr>
        <p:spPr>
          <a:xfrm>
            <a:off x="5074920" y="3273552"/>
            <a:ext cx="358444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3F3F"/>
              </a:buClr>
              <a:buSzPts val="1150"/>
              <a:buFont typeface="Arial"/>
              <a:buNone/>
            </a:pPr>
            <a:r>
              <a:rPr b="0" i="0" lang="en-US" sz="1150" u="none" cap="none" strike="noStrike">
                <a:solidFill>
                  <a:srgbClr val="3F3F3F"/>
                </a:solidFill>
                <a:latin typeface="Arial"/>
                <a:ea typeface="Arial"/>
                <a:cs typeface="Arial"/>
                <a:sym typeface="Arial"/>
              </a:rPr>
              <a:t>Rules run as contract code nobody can bypass</a:t>
            </a:r>
            <a:endParaRPr b="0" i="0" sz="1150" u="none" cap="none" strike="noStrike">
              <a:solidFill>
                <a:schemeClr val="dk1"/>
              </a:solidFill>
              <a:latin typeface="Calibri"/>
              <a:ea typeface="Calibri"/>
              <a:cs typeface="Calibri"/>
              <a:sym typeface="Calibri"/>
            </a:endParaRPr>
          </a:p>
        </p:txBody>
      </p:sp>
      <p:sp>
        <p:nvSpPr>
          <p:cNvPr id="232" name="Google Shape;232;p9"/>
          <p:cNvSpPr/>
          <p:nvPr/>
        </p:nvSpPr>
        <p:spPr>
          <a:xfrm>
            <a:off x="1234440" y="3913632"/>
            <a:ext cx="6675120" cy="50292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1362456" y="3913632"/>
            <a:ext cx="6419088"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A database fixes fragmentation. It does not fix control.</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60" name="Shape 260"/>
        <p:cNvGrpSpPr/>
        <p:nvPr/>
      </p:nvGrpSpPr>
      <p:grpSpPr>
        <a:xfrm>
          <a:off x="0" y="0"/>
          <a:ext cx="0" cy="0"/>
          <a:chOff x="0" y="0"/>
          <a:chExt cx="0" cy="0"/>
        </a:xfrm>
      </p:grpSpPr>
      <p:pic>
        <p:nvPicPr>
          <p:cNvPr descr="/sessions/zen-gracious-knuth/mnt/outputs/uzh_logos.png" id="261" name="Google Shape;261;p11"/>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262" name="Google Shape;262;p11"/>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263" name="Google Shape;263;p11"/>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11</a:t>
            </a:r>
            <a:endParaRPr b="0" i="0" sz="800" u="none" cap="none" strike="noStrike">
              <a:solidFill>
                <a:schemeClr val="dk1"/>
              </a:solidFill>
              <a:latin typeface="Calibri"/>
              <a:ea typeface="Calibri"/>
              <a:cs typeface="Calibri"/>
              <a:sym typeface="Calibri"/>
            </a:endParaRPr>
          </a:p>
        </p:txBody>
      </p:sp>
      <p:sp>
        <p:nvSpPr>
          <p:cNvPr id="264" name="Google Shape;264;p11"/>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Three Hedera services, three different jobs</a:t>
            </a:r>
            <a:endParaRPr b="0" i="0" sz="2600" u="none" cap="none" strike="noStrike">
              <a:solidFill>
                <a:schemeClr val="dk1"/>
              </a:solidFill>
              <a:latin typeface="Calibri"/>
              <a:ea typeface="Calibri"/>
              <a:cs typeface="Calibri"/>
              <a:sym typeface="Calibri"/>
            </a:endParaRPr>
          </a:p>
        </p:txBody>
      </p:sp>
      <p:sp>
        <p:nvSpPr>
          <p:cNvPr id="265" name="Google Shape;265;p11"/>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Each one exists because the previous one is not enough</a:t>
            </a:r>
            <a:endParaRPr b="0" i="0" sz="1300" u="none" cap="none" strike="noStrike">
              <a:solidFill>
                <a:schemeClr val="dk1"/>
              </a:solidFill>
              <a:latin typeface="Calibri"/>
              <a:ea typeface="Calibri"/>
              <a:cs typeface="Calibri"/>
              <a:sym typeface="Calibri"/>
            </a:endParaRPr>
          </a:p>
        </p:txBody>
      </p:sp>
      <p:sp>
        <p:nvSpPr>
          <p:cNvPr id="266" name="Google Shape;266;p11"/>
          <p:cNvSpPr/>
          <p:nvPr/>
        </p:nvSpPr>
        <p:spPr>
          <a:xfrm>
            <a:off x="411480" y="1060704"/>
            <a:ext cx="2615184" cy="64008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tag.png" id="267" name="Google Shape;267;p11"/>
          <p:cNvPicPr preferRelativeResize="0"/>
          <p:nvPr/>
        </p:nvPicPr>
        <p:blipFill rotWithShape="1">
          <a:blip r:embed="rId4">
            <a:alphaModFix/>
          </a:blip>
          <a:srcRect b="0" l="0" r="0" t="0"/>
          <a:stretch/>
        </p:blipFill>
        <p:spPr>
          <a:xfrm>
            <a:off x="1481328" y="1143000"/>
            <a:ext cx="475488" cy="475488"/>
          </a:xfrm>
          <a:prstGeom prst="rect">
            <a:avLst/>
          </a:prstGeom>
          <a:noFill/>
          <a:ln>
            <a:noFill/>
          </a:ln>
        </p:spPr>
      </p:pic>
      <p:sp>
        <p:nvSpPr>
          <p:cNvPr id="268" name="Google Shape;268;p11"/>
          <p:cNvSpPr/>
          <p:nvPr/>
        </p:nvSpPr>
        <p:spPr>
          <a:xfrm>
            <a:off x="411480"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HTS — identity</a:t>
            </a:r>
            <a:endParaRPr b="0" i="0" sz="1400" u="none" cap="none" strike="noStrike">
              <a:solidFill>
                <a:schemeClr val="dk1"/>
              </a:solidFill>
              <a:latin typeface="Calibri"/>
              <a:ea typeface="Calibri"/>
              <a:cs typeface="Calibri"/>
              <a:sym typeface="Calibri"/>
            </a:endParaRPr>
          </a:p>
        </p:txBody>
      </p:sp>
      <p:sp>
        <p:nvSpPr>
          <p:cNvPr id="269" name="Google Shape;269;p11"/>
          <p:cNvSpPr/>
          <p:nvPr/>
        </p:nvSpPr>
        <p:spPr>
          <a:xfrm>
            <a:off x="411480"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One non-fungible token per physical unit. The network assigns the serial; that serial is the unit's identity for life.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"Who holds unit #5" is answered by the network, not by anyone's database.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Limit: 100 bytes of metadata.</a:t>
            </a:r>
            <a:endParaRPr b="0" i="0" sz="1100" u="none" cap="none" strike="noStrike">
              <a:solidFill>
                <a:schemeClr val="dk1"/>
              </a:solidFill>
              <a:latin typeface="Calibri"/>
              <a:ea typeface="Calibri"/>
              <a:cs typeface="Calibri"/>
              <a:sym typeface="Calibri"/>
            </a:endParaRPr>
          </a:p>
        </p:txBody>
      </p:sp>
      <p:sp>
        <p:nvSpPr>
          <p:cNvPr id="270" name="Google Shape;270;p11"/>
          <p:cNvSpPr/>
          <p:nvPr/>
        </p:nvSpPr>
        <p:spPr>
          <a:xfrm>
            <a:off x="3264408" y="1060704"/>
            <a:ext cx="2615184" cy="64008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list.png" id="271" name="Google Shape;271;p11"/>
          <p:cNvPicPr preferRelativeResize="0"/>
          <p:nvPr/>
        </p:nvPicPr>
        <p:blipFill rotWithShape="1">
          <a:blip r:embed="rId5">
            <a:alphaModFix/>
          </a:blip>
          <a:srcRect b="0" l="0" r="0" t="0"/>
          <a:stretch/>
        </p:blipFill>
        <p:spPr>
          <a:xfrm>
            <a:off x="4334256" y="1143000"/>
            <a:ext cx="475488" cy="475488"/>
          </a:xfrm>
          <a:prstGeom prst="rect">
            <a:avLst/>
          </a:prstGeom>
          <a:noFill/>
          <a:ln>
            <a:noFill/>
          </a:ln>
        </p:spPr>
      </p:pic>
      <p:sp>
        <p:nvSpPr>
          <p:cNvPr id="272" name="Google Shape;272;p11"/>
          <p:cNvSpPr/>
          <p:nvPr/>
        </p:nvSpPr>
        <p:spPr>
          <a:xfrm>
            <a:off x="3264408"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HCS — the record</a:t>
            </a:r>
            <a:endParaRPr b="0" i="0" sz="1400" u="none" cap="none" strike="noStrike">
              <a:solidFill>
                <a:schemeClr val="dk1"/>
              </a:solidFill>
              <a:latin typeface="Calibri"/>
              <a:ea typeface="Calibri"/>
              <a:cs typeface="Calibri"/>
              <a:sym typeface="Calibri"/>
            </a:endParaRPr>
          </a:p>
        </p:txBody>
      </p:sp>
      <p:sp>
        <p:nvSpPr>
          <p:cNvPr id="273" name="Google Shape;273;p11"/>
          <p:cNvSpPr/>
          <p:nvPr/>
        </p:nvSpPr>
        <p:spPr>
          <a:xfrm>
            <a:off x="3264408"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An append-only, consensus-ordered message topic. One JSON message per custody event, public and permanent.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Nothing can be edited or deleted, by anyone, ever.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Limit: it records — it cannot refuse.</a:t>
            </a:r>
            <a:endParaRPr b="0" i="0" sz="1100" u="none" cap="none" strike="noStrike">
              <a:solidFill>
                <a:schemeClr val="dk1"/>
              </a:solidFill>
              <a:latin typeface="Calibri"/>
              <a:ea typeface="Calibri"/>
              <a:cs typeface="Calibri"/>
              <a:sym typeface="Calibri"/>
            </a:endParaRPr>
          </a:p>
        </p:txBody>
      </p:sp>
      <p:sp>
        <p:nvSpPr>
          <p:cNvPr id="274" name="Google Shape;274;p11"/>
          <p:cNvSpPr/>
          <p:nvPr/>
        </p:nvSpPr>
        <p:spPr>
          <a:xfrm>
            <a:off x="6117336" y="1060704"/>
            <a:ext cx="2615184" cy="64008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lock.png" id="275" name="Google Shape;275;p11"/>
          <p:cNvPicPr preferRelativeResize="0"/>
          <p:nvPr/>
        </p:nvPicPr>
        <p:blipFill rotWithShape="1">
          <a:blip r:embed="rId6">
            <a:alphaModFix/>
          </a:blip>
          <a:srcRect b="0" l="0" r="0" t="0"/>
          <a:stretch/>
        </p:blipFill>
        <p:spPr>
          <a:xfrm>
            <a:off x="7187184" y="1143000"/>
            <a:ext cx="475488" cy="475488"/>
          </a:xfrm>
          <a:prstGeom prst="rect">
            <a:avLst/>
          </a:prstGeom>
          <a:noFill/>
          <a:ln>
            <a:noFill/>
          </a:ln>
        </p:spPr>
      </p:pic>
      <p:sp>
        <p:nvSpPr>
          <p:cNvPr id="276" name="Google Shape;276;p11"/>
          <p:cNvSpPr/>
          <p:nvPr/>
        </p:nvSpPr>
        <p:spPr>
          <a:xfrm>
            <a:off x="6117336"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HSCS — the gate</a:t>
            </a:r>
            <a:endParaRPr b="0" i="0" sz="1400" u="none" cap="none" strike="noStrike">
              <a:solidFill>
                <a:schemeClr val="dk1"/>
              </a:solidFill>
              <a:latin typeface="Calibri"/>
              <a:ea typeface="Calibri"/>
              <a:cs typeface="Calibri"/>
              <a:sym typeface="Calibri"/>
            </a:endParaRPr>
          </a:p>
        </p:txBody>
      </p:sp>
      <p:sp>
        <p:nvSpPr>
          <p:cNvPr id="277" name="Google Shape;277;p11"/>
          <p:cNvSpPr/>
          <p:nvPr/>
        </p:nvSpPr>
        <p:spPr>
          <a:xfrm>
            <a:off x="6117336"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A Solidity contract that reverts. If the unit has no passing test on record, the call aborts.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Code is public, state is public, and no party can make it skip a check after deployment.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This one refuses.</a:t>
            </a:r>
            <a:endParaRPr b="0" i="0" sz="1100" u="none" cap="none" strike="noStrike">
              <a:solidFill>
                <a:schemeClr val="dk1"/>
              </a:solidFill>
              <a:latin typeface="Calibri"/>
              <a:ea typeface="Calibri"/>
              <a:cs typeface="Calibri"/>
              <a:sym typeface="Calibri"/>
            </a:endParaRPr>
          </a:p>
        </p:txBody>
      </p:sp>
      <p:sp>
        <p:nvSpPr>
          <p:cNvPr id="278" name="Google Shape;278;p11"/>
          <p:cNvSpPr/>
          <p:nvPr/>
        </p:nvSpPr>
        <p:spPr>
          <a:xfrm>
            <a:off x="1600200" y="4041648"/>
            <a:ext cx="5943600" cy="45720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1728216" y="4041648"/>
            <a:ext cx="5687568" cy="4572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HCS is the security camera. HSCS is the turnstile.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60" name="Shape 260"/>
        <p:cNvGrpSpPr/>
        <p:nvPr/>
      </p:nvGrpSpPr>
      <p:grpSpPr>
        <a:xfrm>
          <a:off x="0" y="0"/>
          <a:ext cx="0" cy="0"/>
          <a:chOff x="0" y="0"/>
          <a:chExt cx="0" cy="0"/>
        </a:xfrm>
      </p:grpSpPr>
      <p:pic>
        <p:nvPicPr>
          <p:cNvPr descr="/sessions/zen-gracious-knuth/mnt/outputs/uzh_logos.png" id="261" name="Google Shape;261;p11"/>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262" name="Google Shape;262;p11"/>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263" name="Google Shape;263;p11"/>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11</a:t>
            </a:r>
            <a:endParaRPr b="0" i="0" sz="800" u="none" cap="none" strike="noStrike">
              <a:solidFill>
                <a:schemeClr val="dk1"/>
              </a:solidFill>
              <a:latin typeface="Calibri"/>
              <a:ea typeface="Calibri"/>
              <a:cs typeface="Calibri"/>
              <a:sym typeface="Calibri"/>
            </a:endParaRPr>
          </a:p>
        </p:txBody>
      </p:sp>
      <p:sp>
        <p:nvSpPr>
          <p:cNvPr id="264" name="Google Shape;264;p11"/>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What is unique in our approach?</a:t>
            </a:r>
            <a:endParaRPr b="0" i="0" sz="2600" u="none" cap="none" strike="noStrike">
              <a:solidFill>
                <a:schemeClr val="dk1"/>
              </a:solidFill>
              <a:latin typeface="Calibri"/>
              <a:ea typeface="Calibri"/>
              <a:cs typeface="Calibri"/>
              <a:sym typeface="Calibri"/>
            </a:endParaRPr>
          </a:p>
        </p:txBody>
      </p:sp>
      <p:sp>
        <p:nvSpPr>
          <p:cNvPr id="265" name="Google Shape;265;p11"/>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Three claims no logging system makes — each demonstrated live on testnet, not asserted</a:t>
            </a:r>
            <a:endParaRPr b="0" i="0" sz="1300" u="none" cap="none" strike="noStrike">
              <a:solidFill>
                <a:schemeClr val="dk1"/>
              </a:solidFill>
              <a:latin typeface="Calibri"/>
              <a:ea typeface="Calibri"/>
              <a:cs typeface="Calibri"/>
              <a:sym typeface="Calibri"/>
            </a:endParaRPr>
          </a:p>
        </p:txBody>
      </p:sp>
      <p:sp>
        <p:nvSpPr>
          <p:cNvPr id="266" name="Google Shape;266;p11"/>
          <p:cNvSpPr/>
          <p:nvPr/>
        </p:nvSpPr>
        <p:spPr>
          <a:xfrm>
            <a:off x="411480" y="1060704"/>
            <a:ext cx="2615184" cy="64008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tag.png" id="267" name="Google Shape;267;p11"/>
          <p:cNvPicPr preferRelativeResize="0"/>
          <p:nvPr/>
        </p:nvPicPr>
        <p:blipFill rotWithShape="1">
          <a:blip r:embed="rId4">
            <a:alphaModFix/>
          </a:blip>
          <a:srcRect b="0" l="0" r="0" t="0"/>
          <a:stretch/>
        </p:blipFill>
        <p:spPr>
          <a:xfrm>
            <a:off x="1481328" y="1143000"/>
            <a:ext cx="475488" cy="475488"/>
          </a:xfrm>
          <a:prstGeom prst="rect">
            <a:avLst/>
          </a:prstGeom>
          <a:noFill/>
          <a:ln>
            <a:noFill/>
          </a:ln>
        </p:spPr>
      </p:pic>
      <p:sp>
        <p:nvSpPr>
          <p:cNvPr id="268" name="Google Shape;268;p11"/>
          <p:cNvSpPr/>
          <p:nvPr/>
        </p:nvSpPr>
        <p:spPr>
          <a:xfrm>
            <a:off x="411480"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Enforced, not logged</a:t>
            </a:r>
            <a:endParaRPr b="0" i="0" sz="1400" u="none" cap="none" strike="noStrike">
              <a:solidFill>
                <a:schemeClr val="dk1"/>
              </a:solidFill>
              <a:latin typeface="Calibri"/>
              <a:ea typeface="Calibri"/>
              <a:cs typeface="Calibri"/>
              <a:sym typeface="Calibri"/>
            </a:endParaRPr>
          </a:p>
        </p:txBody>
      </p:sp>
      <p:sp>
        <p:nvSpPr>
          <p:cNvPr id="269" name="Google Shape;269;p11"/>
          <p:cNvSpPr/>
          <p:nvPr/>
        </p:nvSpPr>
        <p:spPr>
          <a:xfrm>
            <a:off x="411480"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The gate contract physically prevents an untested or failed unit from moving. The refusal is a network revert — not a policy, not an if-statement on a server anyone controls.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Every existing alternative records the rule. We are the row that makes breaking it impossible.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Proven live: TRANSFER_BLOCKED, seq #6.</a:t>
            </a:r>
            <a:endParaRPr b="0" i="0" sz="1100" u="none" cap="none" strike="noStrike">
              <a:solidFill>
                <a:schemeClr val="dk1"/>
              </a:solidFill>
              <a:latin typeface="Calibri"/>
              <a:ea typeface="Calibri"/>
              <a:cs typeface="Calibri"/>
              <a:sym typeface="Calibri"/>
            </a:endParaRPr>
          </a:p>
        </p:txBody>
      </p:sp>
      <p:sp>
        <p:nvSpPr>
          <p:cNvPr id="270" name="Google Shape;270;p11"/>
          <p:cNvSpPr/>
          <p:nvPr/>
        </p:nvSpPr>
        <p:spPr>
          <a:xfrm>
            <a:off x="3264408" y="1060704"/>
            <a:ext cx="2615184" cy="64008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list.png" id="271" name="Google Shape;271;p11"/>
          <p:cNvPicPr preferRelativeResize="0"/>
          <p:nvPr/>
        </p:nvPicPr>
        <p:blipFill rotWithShape="1">
          <a:blip r:embed="rId5">
            <a:alphaModFix/>
          </a:blip>
          <a:srcRect b="0" l="0" r="0" t="0"/>
          <a:stretch/>
        </p:blipFill>
        <p:spPr>
          <a:xfrm>
            <a:off x="4334256" y="1143000"/>
            <a:ext cx="475488" cy="475488"/>
          </a:xfrm>
          <a:prstGeom prst="rect">
            <a:avLst/>
          </a:prstGeom>
          <a:noFill/>
          <a:ln>
            <a:noFill/>
          </a:ln>
        </p:spPr>
      </p:pic>
      <p:sp>
        <p:nvSpPr>
          <p:cNvPr id="272" name="Google Shape;272;p11"/>
          <p:cNvSpPr/>
          <p:nvPr/>
        </p:nvSpPr>
        <p:spPr>
          <a:xfrm>
            <a:off x="3264408"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Silence is a signal</a:t>
            </a:r>
            <a:endParaRPr b="0" i="0" sz="1400" u="none" cap="none" strike="noStrike">
              <a:solidFill>
                <a:schemeClr val="dk1"/>
              </a:solidFill>
              <a:latin typeface="Calibri"/>
              <a:ea typeface="Calibri"/>
              <a:cs typeface="Calibri"/>
              <a:sym typeface="Calibri"/>
            </a:endParaRPr>
          </a:p>
        </p:txBody>
      </p:sp>
      <p:sp>
        <p:nvSpPr>
          <p:cNvPr id="273" name="Google Shape;273;p11"/>
          <p:cNvSpPr/>
          <p:nvPr/>
        </p:nvSpPr>
        <p:spPr>
          <a:xfrm>
            <a:off x="3264408"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Every unit must end with TRANSFUSED or DISPOSED. A unit held past its window with no closing event raises an automatic, permanent STALE_ALERT.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We detect what the chain cannot see — from the event that should exist and does not.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Proven live: STALE_ALERT, seq #12.</a:t>
            </a:r>
            <a:endParaRPr b="0" i="0" sz="1100" u="none" cap="none" strike="noStrike">
              <a:solidFill>
                <a:schemeClr val="dk1"/>
              </a:solidFill>
              <a:latin typeface="Calibri"/>
              <a:ea typeface="Calibri"/>
              <a:cs typeface="Calibri"/>
              <a:sym typeface="Calibri"/>
            </a:endParaRPr>
          </a:p>
        </p:txBody>
      </p:sp>
      <p:sp>
        <p:nvSpPr>
          <p:cNvPr id="274" name="Google Shape;274;p11"/>
          <p:cNvSpPr/>
          <p:nvPr/>
        </p:nvSpPr>
        <p:spPr>
          <a:xfrm>
            <a:off x="6117336" y="1060704"/>
            <a:ext cx="2615184" cy="64008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lock.png" id="275" name="Google Shape;275;p11"/>
          <p:cNvPicPr preferRelativeResize="0"/>
          <p:nvPr/>
        </p:nvPicPr>
        <p:blipFill rotWithShape="1">
          <a:blip r:embed="rId6">
            <a:alphaModFix/>
          </a:blip>
          <a:srcRect b="0" l="0" r="0" t="0"/>
          <a:stretch/>
        </p:blipFill>
        <p:spPr>
          <a:xfrm>
            <a:off x="7187184" y="1143000"/>
            <a:ext cx="475488" cy="475488"/>
          </a:xfrm>
          <a:prstGeom prst="rect">
            <a:avLst/>
          </a:prstGeom>
          <a:noFill/>
          <a:ln>
            <a:noFill/>
          </a:ln>
        </p:spPr>
      </p:pic>
      <p:sp>
        <p:nvSpPr>
          <p:cNvPr id="276" name="Google Shape;276;p11"/>
          <p:cNvSpPr/>
          <p:nvPr/>
        </p:nvSpPr>
        <p:spPr>
          <a:xfrm>
            <a:off x="6117336" y="1801368"/>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Verifiability is the product</a:t>
            </a:r>
            <a:endParaRPr b="0" i="0" sz="1400" u="none" cap="none" strike="noStrike">
              <a:solidFill>
                <a:schemeClr val="dk1"/>
              </a:solidFill>
              <a:latin typeface="Calibri"/>
              <a:ea typeface="Calibri"/>
              <a:cs typeface="Calibri"/>
              <a:sym typeface="Calibri"/>
            </a:endParaRPr>
          </a:p>
        </p:txBody>
      </p:sp>
      <p:sp>
        <p:nvSpPr>
          <p:cNvPr id="277" name="Google Shape;277;p11"/>
          <p:cNvSpPr/>
          <p:nvPr/>
        </p:nvSpPr>
        <p:spPr>
          <a:xfrm>
            <a:off x="6117336" y="2130552"/>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Each bag carries a QR code to its public history page. A grader can check us without trusting us.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Code is public, state is public, and no party can make it skip a check after deployment.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This one refuses.</a:t>
            </a:r>
            <a:endParaRPr b="0" i="0" sz="1100" u="none" cap="none" strike="noStrike">
              <a:solidFill>
                <a:schemeClr val="dk1"/>
              </a:solidFill>
              <a:latin typeface="Calibri"/>
              <a:ea typeface="Calibri"/>
              <a:cs typeface="Calibri"/>
              <a:sym typeface="Calibri"/>
            </a:endParaRPr>
          </a:p>
        </p:txBody>
      </p:sp>
      <p:sp>
        <p:nvSpPr>
          <p:cNvPr id="278" name="Google Shape;278;p11"/>
          <p:cNvSpPr/>
          <p:nvPr/>
        </p:nvSpPr>
        <p:spPr>
          <a:xfrm>
            <a:off x="1600200" y="4041648"/>
            <a:ext cx="5943600" cy="45720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1728216" y="4041648"/>
            <a:ext cx="5687568" cy="4572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500"/>
              <a:buFont typeface="Arial"/>
              <a:buNone/>
            </a:pPr>
            <a:r>
              <a:rPr b="0" i="1" lang="en-US" sz="1500" u="none" cap="none" strike="noStrike">
                <a:solidFill>
                  <a:srgbClr val="000000"/>
                </a:solidFill>
                <a:latin typeface="Arial"/>
                <a:ea typeface="Arial"/>
                <a:cs typeface="Arial"/>
                <a:sym typeface="Arial"/>
              </a:rPr>
              <a:t>HCS is the security camera. HSCS is the turnstile.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pic>
        <p:nvPicPr>
          <p:cNvPr descr="/sessions/zen-gracious-knuth/mnt/outputs/uzh_logos.png" id="294" name="Google Shape;294;p13"/>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295" name="Google Shape;295;p13"/>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296" name="Google Shape;296;p13"/>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13</a:t>
            </a:r>
            <a:endParaRPr b="0" i="0" sz="800" u="none" cap="none" strike="noStrike">
              <a:solidFill>
                <a:schemeClr val="dk1"/>
              </a:solidFill>
              <a:latin typeface="Calibri"/>
              <a:ea typeface="Calibri"/>
              <a:cs typeface="Calibri"/>
              <a:sym typeface="Calibri"/>
            </a:endParaRPr>
          </a:p>
        </p:txBody>
      </p:sp>
      <p:sp>
        <p:nvSpPr>
          <p:cNvPr id="297" name="Google Shape;297;p13"/>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Architecture</a:t>
            </a:r>
            <a:endParaRPr b="0" i="0" sz="2600" u="none" cap="none" strike="noStrike">
              <a:solidFill>
                <a:schemeClr val="dk1"/>
              </a:solidFill>
              <a:latin typeface="Calibri"/>
              <a:ea typeface="Calibri"/>
              <a:cs typeface="Calibri"/>
              <a:sym typeface="Calibri"/>
            </a:endParaRPr>
          </a:p>
        </p:txBody>
      </p:sp>
      <p:sp>
        <p:nvSpPr>
          <p:cNvPr id="298" name="Google Shape;298;p13"/>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Two paths out of the browser — and only one of them touches our servers</a:t>
            </a:r>
            <a:endParaRPr b="0" i="0" sz="1300" u="none" cap="none" strike="noStrike">
              <a:solidFill>
                <a:schemeClr val="dk1"/>
              </a:solidFill>
              <a:latin typeface="Calibri"/>
              <a:ea typeface="Calibri"/>
              <a:cs typeface="Calibri"/>
              <a:sym typeface="Calibri"/>
            </a:endParaRPr>
          </a:p>
        </p:txBody>
      </p:sp>
      <p:sp>
        <p:nvSpPr>
          <p:cNvPr id="299" name="Google Shape;299;p13"/>
          <p:cNvSpPr/>
          <p:nvPr/>
        </p:nvSpPr>
        <p:spPr>
          <a:xfrm>
            <a:off x="411480" y="1188720"/>
            <a:ext cx="2103120" cy="640080"/>
          </a:xfrm>
          <a:prstGeom prst="rect">
            <a:avLst/>
          </a:prstGeom>
          <a:solidFill>
            <a:srgbClr val="F2F2F2"/>
          </a:solidFill>
          <a:ln cap="flat" cmpd="sng" w="12700">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411480" y="118872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React frontend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(browser)</a:t>
            </a:r>
            <a:endParaRPr b="0" i="0" sz="1100" u="none" cap="none" strike="noStrike">
              <a:solidFill>
                <a:schemeClr val="dk1"/>
              </a:solidFill>
              <a:latin typeface="Calibri"/>
              <a:ea typeface="Calibri"/>
              <a:cs typeface="Calibri"/>
              <a:sym typeface="Calibri"/>
            </a:endParaRPr>
          </a:p>
        </p:txBody>
      </p:sp>
      <p:sp>
        <p:nvSpPr>
          <p:cNvPr id="301" name="Google Shape;301;p13"/>
          <p:cNvSpPr/>
          <p:nvPr/>
        </p:nvSpPr>
        <p:spPr>
          <a:xfrm>
            <a:off x="2578608" y="1371600"/>
            <a:ext cx="777240" cy="128016"/>
          </a:xfrm>
          <a:prstGeom prst="rightArrow">
            <a:avLst>
              <a:gd fmla="val 50000" name="adj1"/>
              <a:gd fmla="val 50000" name="adj2"/>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2578608" y="1115568"/>
            <a:ext cx="7772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8A26"/>
              </a:buClr>
              <a:buSzPts val="900"/>
              <a:buFont typeface="Arial"/>
              <a:buNone/>
            </a:pPr>
            <a:r>
              <a:rPr b="1" i="0" lang="en-US" sz="900" u="none" cap="none" strike="noStrike">
                <a:solidFill>
                  <a:srgbClr val="5E8A26"/>
                </a:solidFill>
                <a:latin typeface="Arial"/>
                <a:ea typeface="Arial"/>
                <a:cs typeface="Arial"/>
                <a:sym typeface="Arial"/>
              </a:rPr>
              <a:t>READ</a:t>
            </a:r>
            <a:endParaRPr b="0" i="0" sz="900" u="none" cap="none" strike="noStrike">
              <a:solidFill>
                <a:schemeClr val="dk1"/>
              </a:solidFill>
              <a:latin typeface="Calibri"/>
              <a:ea typeface="Calibri"/>
              <a:cs typeface="Calibri"/>
              <a:sym typeface="Calibri"/>
            </a:endParaRPr>
          </a:p>
        </p:txBody>
      </p:sp>
      <p:sp>
        <p:nvSpPr>
          <p:cNvPr id="303" name="Google Shape;303;p13"/>
          <p:cNvSpPr/>
          <p:nvPr/>
        </p:nvSpPr>
        <p:spPr>
          <a:xfrm>
            <a:off x="3456432" y="1188720"/>
            <a:ext cx="2331720" cy="640080"/>
          </a:xfrm>
          <a:prstGeom prst="rect">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3456432" y="1188720"/>
            <a:ext cx="2331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Public mirror node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REST API</a:t>
            </a:r>
            <a:endParaRPr b="0" i="0" sz="1100" u="none" cap="none" strike="noStrike">
              <a:solidFill>
                <a:schemeClr val="dk1"/>
              </a:solidFill>
              <a:latin typeface="Calibri"/>
              <a:ea typeface="Calibri"/>
              <a:cs typeface="Calibri"/>
              <a:sym typeface="Calibri"/>
            </a:endParaRPr>
          </a:p>
        </p:txBody>
      </p:sp>
      <p:sp>
        <p:nvSpPr>
          <p:cNvPr id="305" name="Google Shape;305;p13"/>
          <p:cNvSpPr/>
          <p:nvPr/>
        </p:nvSpPr>
        <p:spPr>
          <a:xfrm>
            <a:off x="5925312" y="1188720"/>
            <a:ext cx="2788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8A26"/>
              </a:buClr>
              <a:buSzPts val="1000"/>
              <a:buFont typeface="Arial"/>
              <a:buNone/>
            </a:pPr>
            <a:r>
              <a:rPr b="0" i="1" lang="en-US" sz="1000" u="none" cap="none" strike="noStrike">
                <a:solidFill>
                  <a:srgbClr val="5E8A26"/>
                </a:solidFill>
                <a:latin typeface="Arial"/>
                <a:ea typeface="Arial"/>
                <a:cs typeface="Arial"/>
                <a:sym typeface="Arial"/>
              </a:rPr>
              <a:t>no keys · no account · no fees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8A26"/>
              </a:buClr>
              <a:buSzPts val="1000"/>
              <a:buFont typeface="Arial"/>
              <a:buNone/>
            </a:pPr>
            <a:r>
              <a:rPr b="0" i="1" lang="en-US" sz="1000" u="none" cap="none" strike="noStrike">
                <a:solidFill>
                  <a:srgbClr val="5E8A26"/>
                </a:solidFill>
                <a:latin typeface="Arial"/>
                <a:ea typeface="Arial"/>
                <a:cs typeface="Arial"/>
                <a:sym typeface="Arial"/>
              </a:rPr>
              <a:t>anyone can verify our claims</a:t>
            </a:r>
            <a:endParaRPr b="0" i="0" sz="1000" u="none" cap="none" strike="noStrike">
              <a:solidFill>
                <a:schemeClr val="dk1"/>
              </a:solidFill>
              <a:latin typeface="Calibri"/>
              <a:ea typeface="Calibri"/>
              <a:cs typeface="Calibri"/>
              <a:sym typeface="Calibri"/>
            </a:endParaRPr>
          </a:p>
        </p:txBody>
      </p:sp>
      <p:sp>
        <p:nvSpPr>
          <p:cNvPr id="306" name="Google Shape;306;p13"/>
          <p:cNvSpPr/>
          <p:nvPr/>
        </p:nvSpPr>
        <p:spPr>
          <a:xfrm>
            <a:off x="2578608" y="2395728"/>
            <a:ext cx="777240" cy="128016"/>
          </a:xfrm>
          <a:prstGeom prst="rightArrow">
            <a:avLst>
              <a:gd fmla="val 50000" name="adj1"/>
              <a:gd fmla="val 50000" name="adj2"/>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2578608" y="2139696"/>
            <a:ext cx="7772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A5"/>
              </a:buClr>
              <a:buSzPts val="900"/>
              <a:buFont typeface="Arial"/>
              <a:buNone/>
            </a:pPr>
            <a:r>
              <a:rPr b="1" i="0" lang="en-US" sz="900" u="none" cap="none" strike="noStrike">
                <a:solidFill>
                  <a:srgbClr val="0028A5"/>
                </a:solidFill>
                <a:latin typeface="Arial"/>
                <a:ea typeface="Arial"/>
                <a:cs typeface="Arial"/>
                <a:sym typeface="Arial"/>
              </a:rPr>
              <a:t>WRITE</a:t>
            </a:r>
            <a:endParaRPr b="0" i="0" sz="900" u="none" cap="none" strike="noStrike">
              <a:solidFill>
                <a:schemeClr val="dk1"/>
              </a:solidFill>
              <a:latin typeface="Calibri"/>
              <a:ea typeface="Calibri"/>
              <a:cs typeface="Calibri"/>
              <a:sym typeface="Calibri"/>
            </a:endParaRPr>
          </a:p>
        </p:txBody>
      </p:sp>
      <p:sp>
        <p:nvSpPr>
          <p:cNvPr id="308" name="Google Shape;308;p13"/>
          <p:cNvSpPr/>
          <p:nvPr/>
        </p:nvSpPr>
        <p:spPr>
          <a:xfrm>
            <a:off x="3456432" y="2212848"/>
            <a:ext cx="2331720" cy="640080"/>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3456432" y="2212848"/>
            <a:ext cx="2331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Local API server</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(Express · holds the keys)</a:t>
            </a:r>
            <a:endParaRPr b="0" i="0" sz="1050" u="none" cap="none" strike="noStrike">
              <a:solidFill>
                <a:schemeClr val="dk1"/>
              </a:solidFill>
              <a:latin typeface="Calibri"/>
              <a:ea typeface="Calibri"/>
              <a:cs typeface="Calibri"/>
              <a:sym typeface="Calibri"/>
            </a:endParaRPr>
          </a:p>
        </p:txBody>
      </p:sp>
      <p:sp>
        <p:nvSpPr>
          <p:cNvPr id="310" name="Google Shape;310;p13"/>
          <p:cNvSpPr/>
          <p:nvPr/>
        </p:nvSpPr>
        <p:spPr>
          <a:xfrm>
            <a:off x="5888736" y="2468880"/>
            <a:ext cx="384048" cy="128016"/>
          </a:xfrm>
          <a:prstGeom prst="rightArrow">
            <a:avLst>
              <a:gd fmla="val 50000" name="adj1"/>
              <a:gd fmla="val 50000" name="adj2"/>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6364224" y="1920240"/>
            <a:ext cx="2350008" cy="402336"/>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6455664" y="1920240"/>
            <a:ext cx="21945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950"/>
              <a:buFont typeface="Arial"/>
              <a:buNone/>
            </a:pPr>
            <a:r>
              <a:rPr b="1" i="0" lang="en-US" sz="950" u="none" cap="none" strike="noStrike">
                <a:solidFill>
                  <a:srgbClr val="0028A5"/>
                </a:solidFill>
                <a:latin typeface="Arial"/>
                <a:ea typeface="Arial"/>
                <a:cs typeface="Arial"/>
                <a:sym typeface="Arial"/>
              </a:rPr>
              <a:t>HTS  </a:t>
            </a:r>
            <a:r>
              <a:rPr b="0" i="0" lang="en-US" sz="950" u="none" cap="none" strike="noStrike">
                <a:solidFill>
                  <a:srgbClr val="3F3F3F"/>
                </a:solidFill>
                <a:latin typeface="Arial"/>
                <a:ea typeface="Arial"/>
                <a:cs typeface="Arial"/>
                <a:sym typeface="Arial"/>
              </a:rPr>
              <a:t>BLOOD NFT · 0.0.9663839</a:t>
            </a:r>
            <a:endParaRPr b="0" i="0" sz="950" u="none" cap="none" strike="noStrike">
              <a:solidFill>
                <a:schemeClr val="dk1"/>
              </a:solidFill>
              <a:latin typeface="Calibri"/>
              <a:ea typeface="Calibri"/>
              <a:cs typeface="Calibri"/>
              <a:sym typeface="Calibri"/>
            </a:endParaRPr>
          </a:p>
        </p:txBody>
      </p:sp>
      <p:sp>
        <p:nvSpPr>
          <p:cNvPr id="313" name="Google Shape;313;p13"/>
          <p:cNvSpPr/>
          <p:nvPr/>
        </p:nvSpPr>
        <p:spPr>
          <a:xfrm>
            <a:off x="6364224" y="2395728"/>
            <a:ext cx="2350008" cy="402336"/>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6455664" y="2395728"/>
            <a:ext cx="21945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950"/>
              <a:buFont typeface="Arial"/>
              <a:buNone/>
            </a:pPr>
            <a:r>
              <a:rPr b="1" i="0" lang="en-US" sz="950" u="none" cap="none" strike="noStrike">
                <a:solidFill>
                  <a:srgbClr val="0028A5"/>
                </a:solidFill>
                <a:latin typeface="Arial"/>
                <a:ea typeface="Arial"/>
                <a:cs typeface="Arial"/>
                <a:sym typeface="Arial"/>
              </a:rPr>
              <a:t>HCS  </a:t>
            </a:r>
            <a:r>
              <a:rPr b="0" i="0" lang="en-US" sz="950" u="none" cap="none" strike="noStrike">
                <a:solidFill>
                  <a:srgbClr val="3F3F3F"/>
                </a:solidFill>
                <a:latin typeface="Arial"/>
                <a:ea typeface="Arial"/>
                <a:cs typeface="Arial"/>
                <a:sym typeface="Arial"/>
              </a:rPr>
              <a:t>topic · 0.0.9663848</a:t>
            </a:r>
            <a:endParaRPr b="0" i="0" sz="950" u="none" cap="none" strike="noStrike">
              <a:solidFill>
                <a:schemeClr val="dk1"/>
              </a:solidFill>
              <a:latin typeface="Calibri"/>
              <a:ea typeface="Calibri"/>
              <a:cs typeface="Calibri"/>
              <a:sym typeface="Calibri"/>
            </a:endParaRPr>
          </a:p>
        </p:txBody>
      </p:sp>
      <p:sp>
        <p:nvSpPr>
          <p:cNvPr id="315" name="Google Shape;315;p13"/>
          <p:cNvSpPr/>
          <p:nvPr/>
        </p:nvSpPr>
        <p:spPr>
          <a:xfrm>
            <a:off x="6364224" y="2871216"/>
            <a:ext cx="2350008" cy="402336"/>
          </a:xfrm>
          <a:prstGeom prst="rect">
            <a:avLst/>
          </a:prstGeom>
          <a:solidFill>
            <a:srgbClr val="E9EDF7"/>
          </a:solidFill>
          <a:ln cap="flat" cmpd="sng" w="12700">
            <a:solidFill>
              <a:srgbClr val="C3C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6455664" y="2871216"/>
            <a:ext cx="21945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950"/>
              <a:buFont typeface="Arial"/>
              <a:buNone/>
            </a:pPr>
            <a:r>
              <a:rPr b="1" i="0" lang="en-US" sz="950" u="none" cap="none" strike="noStrike">
                <a:solidFill>
                  <a:srgbClr val="0028A5"/>
                </a:solidFill>
                <a:latin typeface="Arial"/>
                <a:ea typeface="Arial"/>
                <a:cs typeface="Arial"/>
                <a:sym typeface="Arial"/>
              </a:rPr>
              <a:t>HSCS  </a:t>
            </a:r>
            <a:r>
              <a:rPr b="0" i="0" lang="en-US" sz="950" u="none" cap="none" strike="noStrike">
                <a:solidFill>
                  <a:srgbClr val="3F3F3F"/>
                </a:solidFill>
                <a:latin typeface="Arial"/>
                <a:ea typeface="Arial"/>
                <a:cs typeface="Arial"/>
                <a:sym typeface="Arial"/>
              </a:rPr>
              <a:t>gate + oversight contracts</a:t>
            </a:r>
            <a:endParaRPr b="0" i="0" sz="950" u="none" cap="none" strike="noStrike">
              <a:solidFill>
                <a:schemeClr val="dk1"/>
              </a:solidFill>
              <a:latin typeface="Calibri"/>
              <a:ea typeface="Calibri"/>
              <a:cs typeface="Calibri"/>
              <a:sym typeface="Calibri"/>
            </a:endParaRPr>
          </a:p>
        </p:txBody>
      </p:sp>
      <p:sp>
        <p:nvSpPr>
          <p:cNvPr id="317" name="Google Shape;317;p13"/>
          <p:cNvSpPr/>
          <p:nvPr/>
        </p:nvSpPr>
        <p:spPr>
          <a:xfrm>
            <a:off x="3456432" y="3273552"/>
            <a:ext cx="2331720" cy="548640"/>
          </a:xfrm>
          <a:prstGeom prst="rect">
            <a:avLst/>
          </a:prstGeom>
          <a:solidFill>
            <a:srgbClr val="FFFFFF"/>
          </a:solidFill>
          <a:ln cap="flat" cmpd="sng" w="12700">
            <a:solidFill>
              <a:srgbClr val="BFBFB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3456432" y="3273552"/>
            <a:ext cx="2331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1000"/>
              <a:buFont typeface="Arial"/>
              <a:buNone/>
            </a:pPr>
            <a:r>
              <a:rPr b="0" i="0" lang="en-US" sz="1000" u="none" cap="none" strike="noStrike">
                <a:solidFill>
                  <a:srgbClr val="7F7F7F"/>
                </a:solidFill>
                <a:latin typeface="Arial"/>
                <a:ea typeface="Arial"/>
                <a:cs typeface="Arial"/>
                <a:sym typeface="Arial"/>
              </a:rPr>
              <a:t>data/index.json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7F7F"/>
              </a:buClr>
              <a:buSzPts val="1000"/>
              <a:buFont typeface="Arial"/>
              <a:buNone/>
            </a:pPr>
            <a:r>
              <a:rPr b="0" i="0" lang="en-US" sz="1000" u="none" cap="none" strike="noStrike">
                <a:solidFill>
                  <a:srgbClr val="7F7F7F"/>
                </a:solidFill>
                <a:latin typeface="Arial"/>
                <a:ea typeface="Arial"/>
                <a:cs typeface="Arial"/>
                <a:sym typeface="Arial"/>
              </a:rPr>
              <a:t>local cache</a:t>
            </a:r>
            <a:endParaRPr b="0" i="0" sz="1000" u="none" cap="none" strike="noStrike">
              <a:solidFill>
                <a:schemeClr val="dk1"/>
              </a:solidFill>
              <a:latin typeface="Calibri"/>
              <a:ea typeface="Calibri"/>
              <a:cs typeface="Calibri"/>
              <a:sym typeface="Calibri"/>
            </a:endParaRPr>
          </a:p>
        </p:txBody>
      </p:sp>
      <p:sp>
        <p:nvSpPr>
          <p:cNvPr id="319" name="Google Shape;319;p13"/>
          <p:cNvSpPr/>
          <p:nvPr/>
        </p:nvSpPr>
        <p:spPr>
          <a:xfrm>
            <a:off x="6035040" y="3401568"/>
            <a:ext cx="26974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900"/>
              <a:buFont typeface="Arial"/>
              <a:buNone/>
            </a:pPr>
            <a:r>
              <a:rPr b="0" i="1" lang="en-US" sz="900" u="none" cap="none" strike="noStrike">
                <a:solidFill>
                  <a:srgbClr val="7F7F7F"/>
                </a:solidFill>
                <a:latin typeface="Arial"/>
                <a:ea typeface="Arial"/>
                <a:cs typeface="Arial"/>
                <a:sym typeface="Arial"/>
              </a:rPr>
              <a:t>Disposable. `npm run rebuild-index` replays the whole topic in consensus order and reconstructs this file from chain history alone.</a:t>
            </a:r>
            <a:endParaRPr b="0" i="0" sz="900" u="none" cap="none" strike="noStrike">
              <a:solidFill>
                <a:schemeClr val="dk1"/>
              </a:solidFill>
              <a:latin typeface="Calibri"/>
              <a:ea typeface="Calibri"/>
              <a:cs typeface="Calibri"/>
              <a:sym typeface="Calibri"/>
            </a:endParaRPr>
          </a:p>
        </p:txBody>
      </p:sp>
      <p:cxnSp>
        <p:nvCxnSpPr>
          <p:cNvPr id="320" name="Google Shape;320;p13"/>
          <p:cNvCxnSpPr/>
          <p:nvPr/>
        </p:nvCxnSpPr>
        <p:spPr>
          <a:xfrm>
            <a:off x="4617720" y="2871216"/>
            <a:ext cx="0" cy="384048"/>
          </a:xfrm>
          <a:prstGeom prst="straightConnector1">
            <a:avLst/>
          </a:prstGeom>
          <a:noFill/>
          <a:ln cap="flat" cmpd="sng" w="12700">
            <a:solidFill>
              <a:srgbClr val="BFBFBF"/>
            </a:solidFill>
            <a:prstDash val="dash"/>
            <a:round/>
            <a:headEnd len="sm" w="sm" type="none"/>
            <a:tailEnd len="sm" w="sm" type="none"/>
          </a:ln>
        </p:spPr>
      </p:cxnSp>
      <p:sp>
        <p:nvSpPr>
          <p:cNvPr id="321" name="Google Shape;321;p13"/>
          <p:cNvSpPr/>
          <p:nvPr/>
        </p:nvSpPr>
        <p:spPr>
          <a:xfrm>
            <a:off x="960120" y="4023360"/>
            <a:ext cx="7223760" cy="438912"/>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
          <p:cNvSpPr/>
          <p:nvPr/>
        </p:nvSpPr>
        <p:spPr>
          <a:xfrm>
            <a:off x="1088136" y="4023360"/>
            <a:ext cx="6967728" cy="43891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300"/>
              <a:buFont typeface="Arial"/>
              <a:buNone/>
            </a:pPr>
            <a:r>
              <a:rPr b="0" i="1" lang="en-US" sz="1300" u="none" cap="none" strike="noStrike">
                <a:solidFill>
                  <a:srgbClr val="000000"/>
                </a:solidFill>
                <a:latin typeface="Arial"/>
                <a:ea typeface="Arial"/>
                <a:cs typeface="Arial"/>
                <a:sym typeface="Arial"/>
              </a:rPr>
              <a:t>Private keys never reach the browser. Reading never reaches our server.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70" name="Shape 370"/>
        <p:cNvGrpSpPr/>
        <p:nvPr/>
      </p:nvGrpSpPr>
      <p:grpSpPr>
        <a:xfrm>
          <a:off x="0" y="0"/>
          <a:ext cx="0" cy="0"/>
          <a:chOff x="0" y="0"/>
          <a:chExt cx="0" cy="0"/>
        </a:xfrm>
      </p:grpSpPr>
      <p:pic>
        <p:nvPicPr>
          <p:cNvPr descr="/sessions/zen-gracious-knuth/mnt/outputs/uzh_logos.png" id="371" name="Google Shape;371;p15"/>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372" name="Google Shape;372;p15"/>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373" name="Google Shape;373;p15"/>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15</a:t>
            </a:r>
            <a:endParaRPr b="0" i="0" sz="800" u="none" cap="none" strike="noStrike">
              <a:solidFill>
                <a:schemeClr val="dk1"/>
              </a:solidFill>
              <a:latin typeface="Calibri"/>
              <a:ea typeface="Calibri"/>
              <a:cs typeface="Calibri"/>
              <a:sym typeface="Calibri"/>
            </a:endParaRPr>
          </a:p>
        </p:txBody>
      </p:sp>
      <p:sp>
        <p:nvSpPr>
          <p:cNvPr id="374" name="Google Shape;374;p15"/>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The gate</a:t>
            </a:r>
            <a:endParaRPr b="0" i="0" sz="2600" u="none" cap="none" strike="noStrike">
              <a:solidFill>
                <a:schemeClr val="dk1"/>
              </a:solidFill>
              <a:latin typeface="Calibri"/>
              <a:ea typeface="Calibri"/>
              <a:cs typeface="Calibri"/>
              <a:sym typeface="Calibri"/>
            </a:endParaRPr>
          </a:p>
        </p:txBody>
      </p:sp>
      <p:sp>
        <p:nvSpPr>
          <p:cNvPr id="375" name="Google Shape;375;p15"/>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BloodUnitGate.sol — one line does the work</a:t>
            </a:r>
            <a:endParaRPr b="0" i="0" sz="1300" u="none" cap="none" strike="noStrike">
              <a:solidFill>
                <a:schemeClr val="dk1"/>
              </a:solidFill>
              <a:latin typeface="Calibri"/>
              <a:ea typeface="Calibri"/>
              <a:cs typeface="Calibri"/>
              <a:sym typeface="Calibri"/>
            </a:endParaRPr>
          </a:p>
        </p:txBody>
      </p:sp>
      <p:sp>
        <p:nvSpPr>
          <p:cNvPr id="376" name="Google Shape;376;p15"/>
          <p:cNvSpPr/>
          <p:nvPr/>
        </p:nvSpPr>
        <p:spPr>
          <a:xfrm>
            <a:off x="411480" y="1042416"/>
            <a:ext cx="8321040" cy="987552"/>
          </a:xfrm>
          <a:prstGeom prst="rect">
            <a:avLst/>
          </a:prstGeom>
          <a:solidFill>
            <a:srgbClr val="1C1C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612648" y="1042416"/>
            <a:ext cx="7918704" cy="9875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792EA"/>
              </a:buClr>
              <a:buSzPts val="1150"/>
              <a:buFont typeface="Courier New"/>
              <a:buNone/>
            </a:pPr>
            <a:r>
              <a:rPr b="0" i="0" lang="en-US" sz="1150" u="none" cap="none" strike="noStrike">
                <a:solidFill>
                  <a:srgbClr val="C792EA"/>
                </a:solidFill>
                <a:latin typeface="Courier New"/>
                <a:ea typeface="Courier New"/>
                <a:cs typeface="Courier New"/>
                <a:sym typeface="Courier New"/>
              </a:rPr>
              <a:t>function </a:t>
            </a:r>
            <a:r>
              <a:rPr b="0" i="0" lang="en-US" sz="1150" u="none" cap="none" strike="noStrike">
                <a:solidFill>
                  <a:srgbClr val="82AAFF"/>
                </a:solidFill>
                <a:latin typeface="Courier New"/>
                <a:ea typeface="Courier New"/>
                <a:cs typeface="Courier New"/>
                <a:sym typeface="Courier New"/>
              </a:rPr>
              <a:t>requireClearance</a:t>
            </a:r>
            <a:r>
              <a:rPr b="0" i="0" lang="en-US" sz="1150" u="none" cap="none" strike="noStrike">
                <a:solidFill>
                  <a:srgbClr val="D8DEE9"/>
                </a:solidFill>
                <a:latin typeface="Courier New"/>
                <a:ea typeface="Courier New"/>
                <a:cs typeface="Courier New"/>
                <a:sym typeface="Courier New"/>
              </a:rPr>
              <a:t>(int64 serial) public {</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8DEE9"/>
              </a:buClr>
              <a:buSzPts val="1150"/>
              <a:buFont typeface="Courier New"/>
              <a:buNone/>
            </a:pPr>
            <a:r>
              <a:rPr b="0" i="0" lang="en-US" sz="1150" u="none" cap="none" strike="noStrike">
                <a:solidFill>
                  <a:srgbClr val="D8DEE9"/>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78C6C"/>
              </a:buClr>
              <a:buSzPts val="1150"/>
              <a:buFont typeface="Courier New"/>
              <a:buNone/>
            </a:pPr>
            <a:r>
              <a:rPr b="0" i="0" lang="en-US" sz="1150" u="none" cap="none" strike="noStrike">
                <a:solidFill>
                  <a:srgbClr val="F78C6C"/>
                </a:solidFill>
                <a:latin typeface="Courier New"/>
                <a:ea typeface="Courier New"/>
                <a:cs typeface="Courier New"/>
                <a:sym typeface="Courier New"/>
              </a:rPr>
              <a:t>require</a:t>
            </a:r>
            <a:r>
              <a:rPr b="0" i="0" lang="en-US" sz="1150" u="none" cap="none" strike="noStrike">
                <a:solidFill>
                  <a:srgbClr val="D8DEE9"/>
                </a:solidFill>
                <a:latin typeface="Courier New"/>
                <a:ea typeface="Courier New"/>
                <a:cs typeface="Courier New"/>
                <a:sym typeface="Courier New"/>
              </a:rPr>
              <a:t>(testStatus[serial] == Status.Passed, </a:t>
            </a:r>
            <a:r>
              <a:rPr b="0" i="0" lang="en-US" sz="1150" u="none" cap="none" strike="noStrike">
                <a:solidFill>
                  <a:srgbClr val="C3E88D"/>
                </a:solidFill>
                <a:latin typeface="Courier New"/>
                <a:ea typeface="Courier New"/>
                <a:cs typeface="Courier New"/>
                <a:sym typeface="Courier New"/>
              </a:rPr>
              <a:t>"blocked: test missing or failed"</a:t>
            </a:r>
            <a:r>
              <a:rPr b="0" i="0" lang="en-US" sz="1150" u="none" cap="none" strike="noStrike">
                <a:solidFill>
                  <a:srgbClr val="D8DEE9"/>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8DEE9"/>
              </a:buClr>
              <a:buSzPts val="1150"/>
              <a:buFont typeface="Courier New"/>
              <a:buNone/>
            </a:pPr>
            <a:r>
              <a:rPr b="0" i="0" lang="en-US" sz="1150" u="none" cap="none" strike="noStrike">
                <a:solidFill>
                  <a:srgbClr val="D8DEE9"/>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p:txBody>
      </p:sp>
      <p:sp>
        <p:nvSpPr>
          <p:cNvPr id="378" name="Google Shape;378;p15"/>
          <p:cNvSpPr/>
          <p:nvPr/>
        </p:nvSpPr>
        <p:spPr>
          <a:xfrm>
            <a:off x="411480" y="2121408"/>
            <a:ext cx="4041648" cy="402336"/>
          </a:xfrm>
          <a:prstGeom prst="rect">
            <a:avLst/>
          </a:prstGeom>
          <a:solidFill>
            <a:srgbClr val="92D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557784" y="2121408"/>
            <a:ext cx="3749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Passed</a:t>
            </a:r>
            <a:endParaRPr b="0" i="0" sz="1300" u="none" cap="none" strike="noStrike">
              <a:solidFill>
                <a:schemeClr val="dk1"/>
              </a:solidFill>
              <a:latin typeface="Calibri"/>
              <a:ea typeface="Calibri"/>
              <a:cs typeface="Calibri"/>
              <a:sym typeface="Calibri"/>
            </a:endParaRPr>
          </a:p>
        </p:txBody>
      </p:sp>
      <p:sp>
        <p:nvSpPr>
          <p:cNvPr id="380" name="Google Shape;380;p15"/>
          <p:cNvSpPr/>
          <p:nvPr/>
        </p:nvSpPr>
        <p:spPr>
          <a:xfrm>
            <a:off x="411480" y="2633472"/>
            <a:ext cx="4041648"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The transfer transaction is built, signed by the current holder, and the NFT moves. CUSTODY_TRANSFER written to the log.</a:t>
            </a:r>
            <a:endParaRPr b="0" i="0" sz="1100" u="none" cap="none" strike="noStrike">
              <a:solidFill>
                <a:schemeClr val="dk1"/>
              </a:solidFill>
              <a:latin typeface="Calibri"/>
              <a:ea typeface="Calibri"/>
              <a:cs typeface="Calibri"/>
              <a:sym typeface="Calibri"/>
            </a:endParaRPr>
          </a:p>
        </p:txBody>
      </p:sp>
      <p:sp>
        <p:nvSpPr>
          <p:cNvPr id="381" name="Google Shape;381;p15"/>
          <p:cNvSpPr/>
          <p:nvPr/>
        </p:nvSpPr>
        <p:spPr>
          <a:xfrm>
            <a:off x="4690872" y="2121408"/>
            <a:ext cx="4041648" cy="402336"/>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4837176" y="2121408"/>
            <a:ext cx="3749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Unknown or Failed</a:t>
            </a:r>
            <a:endParaRPr b="0" i="0" sz="1300" u="none" cap="none" strike="noStrike">
              <a:solidFill>
                <a:schemeClr val="dk1"/>
              </a:solidFill>
              <a:latin typeface="Calibri"/>
              <a:ea typeface="Calibri"/>
              <a:cs typeface="Calibri"/>
              <a:sym typeface="Calibri"/>
            </a:endParaRPr>
          </a:p>
        </p:txBody>
      </p:sp>
      <p:sp>
        <p:nvSpPr>
          <p:cNvPr id="383" name="Google Shape;383;p15"/>
          <p:cNvSpPr/>
          <p:nvPr/>
        </p:nvSpPr>
        <p:spPr>
          <a:xfrm>
            <a:off x="4690872" y="2633472"/>
            <a:ext cx="4041648"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The call reverts. The transfer is never constructed — the refusal happens before the token is touched. TRANSFER_BLOCKED written to the log, permanently.</a:t>
            </a:r>
            <a:endParaRPr b="0" i="0" sz="1100" u="none" cap="none" strike="noStrike">
              <a:solidFill>
                <a:schemeClr val="dk1"/>
              </a:solidFill>
              <a:latin typeface="Calibri"/>
              <a:ea typeface="Calibri"/>
              <a:cs typeface="Calibri"/>
              <a:sym typeface="Calibri"/>
            </a:endParaRPr>
          </a:p>
        </p:txBody>
      </p:sp>
      <p:sp>
        <p:nvSpPr>
          <p:cNvPr id="384" name="Google Shape;384;p15"/>
          <p:cNvSpPr/>
          <p:nvPr/>
        </p:nvSpPr>
        <p:spPr>
          <a:xfrm>
            <a:off x="685800" y="3584448"/>
            <a:ext cx="7772400" cy="841248"/>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813816" y="3584448"/>
            <a:ext cx="7516368" cy="841248"/>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The JavaScript never decides pass or fail — it relays the contract's verdict.</a:t>
            </a:r>
            <a:endParaRPr b="0" i="0" sz="14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An if-statement on a server can be edited by whoever runs the server. The deployed contract cannot.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90" name="Shape 390"/>
        <p:cNvGrpSpPr/>
        <p:nvPr/>
      </p:nvGrpSpPr>
      <p:grpSpPr>
        <a:xfrm>
          <a:off x="0" y="0"/>
          <a:ext cx="0" cy="0"/>
          <a:chOff x="0" y="0"/>
          <a:chExt cx="0" cy="0"/>
        </a:xfrm>
      </p:grpSpPr>
      <p:pic>
        <p:nvPicPr>
          <p:cNvPr descr="/sessions/zen-gracious-knuth/mnt/outputs/uzh_logos.png" id="391" name="Google Shape;391;p16"/>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392" name="Google Shape;392;p16"/>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393" name="Google Shape;393;p16"/>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16</a:t>
            </a:r>
            <a:endParaRPr b="0" i="0" sz="800" u="none" cap="none" strike="noStrike">
              <a:solidFill>
                <a:schemeClr val="dk1"/>
              </a:solidFill>
              <a:latin typeface="Calibri"/>
              <a:ea typeface="Calibri"/>
              <a:cs typeface="Calibri"/>
              <a:sym typeface="Calibri"/>
            </a:endParaRPr>
          </a:p>
        </p:txBody>
      </p:sp>
      <p:sp>
        <p:nvSpPr>
          <p:cNvPr id="394" name="Google Shape;394;p16"/>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Batch recall: days become seconds</a:t>
            </a:r>
            <a:endParaRPr b="0" i="0" sz="2600" u="none" cap="none" strike="noStrike">
              <a:solidFill>
                <a:schemeClr val="dk1"/>
              </a:solidFill>
              <a:latin typeface="Calibri"/>
              <a:ea typeface="Calibri"/>
              <a:cs typeface="Calibri"/>
              <a:sym typeface="Calibri"/>
            </a:endParaRPr>
          </a:p>
        </p:txBody>
      </p:sp>
      <p:sp>
        <p:nvSpPr>
          <p:cNvPr id="395" name="Google Shape;395;p16"/>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flagBatch() — one sweep over every sibling sharing a donorBatchId</a:t>
            </a:r>
            <a:endParaRPr b="0" i="0" sz="1300" u="none" cap="none" strike="noStrike">
              <a:solidFill>
                <a:schemeClr val="dk1"/>
              </a:solidFill>
              <a:latin typeface="Calibri"/>
              <a:ea typeface="Calibri"/>
              <a:cs typeface="Calibri"/>
              <a:sym typeface="Calibri"/>
            </a:endParaRPr>
          </a:p>
        </p:txBody>
      </p:sp>
      <p:sp>
        <p:nvSpPr>
          <p:cNvPr id="396" name="Google Shape;396;p16"/>
          <p:cNvSpPr/>
          <p:nvPr/>
        </p:nvSpPr>
        <p:spPr>
          <a:xfrm>
            <a:off x="411480" y="1133856"/>
            <a:ext cx="2615184" cy="420624"/>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a:off x="521208" y="1133856"/>
            <a:ext cx="239572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The flagged unit</a:t>
            </a:r>
            <a:endParaRPr b="0" i="0" sz="1200" u="none" cap="none" strike="noStrike">
              <a:solidFill>
                <a:schemeClr val="dk1"/>
              </a:solidFill>
              <a:latin typeface="Calibri"/>
              <a:ea typeface="Calibri"/>
              <a:cs typeface="Calibri"/>
              <a:sym typeface="Calibri"/>
            </a:endParaRPr>
          </a:p>
        </p:txBody>
      </p:sp>
      <p:sp>
        <p:nvSpPr>
          <p:cNvPr id="398" name="Google Shape;398;p16"/>
          <p:cNvSpPr/>
          <p:nvPr/>
        </p:nvSpPr>
        <p:spPr>
          <a:xfrm>
            <a:off x="411480" y="1664208"/>
            <a:ext cx="261518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0000"/>
              </a:buClr>
              <a:buSzPts val="1100"/>
              <a:buFont typeface="Courier New"/>
              <a:buNone/>
            </a:pPr>
            <a:r>
              <a:rPr b="1" i="0" lang="en-US" sz="1100" u="none" cap="none" strike="noStrike">
                <a:solidFill>
                  <a:srgbClr val="C00000"/>
                </a:solidFill>
                <a:latin typeface="Courier New"/>
                <a:ea typeface="Courier New"/>
                <a:cs typeface="Courier New"/>
                <a:sym typeface="Courier New"/>
              </a:rPr>
              <a:t>FLAGGED</a:t>
            </a:r>
            <a:endParaRPr b="0" i="0" sz="1100" u="none" cap="none" strike="noStrike">
              <a:solidFill>
                <a:schemeClr val="dk1"/>
              </a:solidFill>
              <a:latin typeface="Calibri"/>
              <a:ea typeface="Calibri"/>
              <a:cs typeface="Calibri"/>
              <a:sym typeface="Calibri"/>
            </a:endParaRPr>
          </a:p>
        </p:txBody>
      </p:sp>
      <p:sp>
        <p:nvSpPr>
          <p:cNvPr id="399" name="Google Shape;399;p16"/>
          <p:cNvSpPr/>
          <p:nvPr/>
        </p:nvSpPr>
        <p:spPr>
          <a:xfrm>
            <a:off x="411480" y="1975104"/>
            <a:ext cx="2560320" cy="10515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Quarantined immediately.</a:t>
            </a:r>
            <a:endParaRPr b="0" i="0" sz="1100" u="none" cap="none" strike="noStrike">
              <a:solidFill>
                <a:schemeClr val="dk1"/>
              </a:solidFill>
              <a:latin typeface="Calibri"/>
              <a:ea typeface="Calibri"/>
              <a:cs typeface="Calibri"/>
              <a:sym typeface="Calibri"/>
            </a:endParaRPr>
          </a:p>
        </p:txBody>
      </p:sp>
      <p:sp>
        <p:nvSpPr>
          <p:cNvPr id="400" name="Google Shape;400;p16"/>
          <p:cNvSpPr/>
          <p:nvPr/>
        </p:nvSpPr>
        <p:spPr>
          <a:xfrm>
            <a:off x="411480" y="3017520"/>
            <a:ext cx="2615184"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950"/>
              <a:buFont typeface="Arial"/>
              <a:buNone/>
            </a:pPr>
            <a:r>
              <a:rPr b="1" i="0" lang="en-US" sz="950" u="none" cap="none" strike="noStrike">
                <a:solidFill>
                  <a:srgbClr val="7F7F7F"/>
                </a:solidFill>
                <a:latin typeface="Arial"/>
                <a:ea typeface="Arial"/>
                <a:cs typeface="Arial"/>
                <a:sym typeface="Arial"/>
              </a:rPr>
              <a:t>seq #7</a:t>
            </a:r>
            <a:endParaRPr b="0" i="0" sz="950" u="none" cap="none" strike="noStrike">
              <a:solidFill>
                <a:schemeClr val="dk1"/>
              </a:solidFill>
              <a:latin typeface="Calibri"/>
              <a:ea typeface="Calibri"/>
              <a:cs typeface="Calibri"/>
              <a:sym typeface="Calibri"/>
            </a:endParaRPr>
          </a:p>
        </p:txBody>
      </p:sp>
      <p:sp>
        <p:nvSpPr>
          <p:cNvPr id="401" name="Google Shape;401;p16"/>
          <p:cNvSpPr/>
          <p:nvPr/>
        </p:nvSpPr>
        <p:spPr>
          <a:xfrm>
            <a:off x="3264408" y="1133856"/>
            <a:ext cx="2615184" cy="420624"/>
          </a:xfrm>
          <a:prstGeom prst="rect">
            <a:avLst/>
          </a:prstGeom>
          <a:solidFill>
            <a:srgbClr val="E08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3374136" y="1133856"/>
            <a:ext cx="239572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Siblings still open</a:t>
            </a:r>
            <a:endParaRPr b="0" i="0" sz="1200" u="none" cap="none" strike="noStrike">
              <a:solidFill>
                <a:schemeClr val="dk1"/>
              </a:solidFill>
              <a:latin typeface="Calibri"/>
              <a:ea typeface="Calibri"/>
              <a:cs typeface="Calibri"/>
              <a:sym typeface="Calibri"/>
            </a:endParaRPr>
          </a:p>
        </p:txBody>
      </p:sp>
      <p:sp>
        <p:nvSpPr>
          <p:cNvPr id="403" name="Google Shape;403;p16"/>
          <p:cNvSpPr/>
          <p:nvPr/>
        </p:nvSpPr>
        <p:spPr>
          <a:xfrm>
            <a:off x="3264408" y="1664208"/>
            <a:ext cx="261518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6E00"/>
              </a:buClr>
              <a:buSzPts val="1100"/>
              <a:buFont typeface="Courier New"/>
              <a:buNone/>
            </a:pPr>
            <a:r>
              <a:rPr b="1" i="0" lang="en-US" sz="1100" u="none" cap="none" strike="noStrike">
                <a:solidFill>
                  <a:srgbClr val="B36E00"/>
                </a:solidFill>
                <a:latin typeface="Courier New"/>
                <a:ea typeface="Courier New"/>
                <a:cs typeface="Courier New"/>
                <a:sym typeface="Courier New"/>
              </a:rPr>
              <a:t>BATCH_ALERT</a:t>
            </a:r>
            <a:endParaRPr b="0" i="0" sz="1100" u="none" cap="none" strike="noStrike">
              <a:solidFill>
                <a:schemeClr val="dk1"/>
              </a:solidFill>
              <a:latin typeface="Calibri"/>
              <a:ea typeface="Calibri"/>
              <a:cs typeface="Calibri"/>
              <a:sym typeface="Calibri"/>
            </a:endParaRPr>
          </a:p>
        </p:txBody>
      </p:sp>
      <p:sp>
        <p:nvSpPr>
          <p:cNvPr id="404" name="Google Shape;404;p16"/>
          <p:cNvSpPr/>
          <p:nvPr/>
        </p:nvSpPr>
        <p:spPr>
          <a:xfrm>
            <a:off x="3264408" y="1975104"/>
            <a:ext cx="2560320" cy="10515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Quarantined wherever they are. In our run this caught a unit that had already been transferred to the lab.</a:t>
            </a:r>
            <a:endParaRPr b="0" i="0" sz="1100" u="none" cap="none" strike="noStrike">
              <a:solidFill>
                <a:schemeClr val="dk1"/>
              </a:solidFill>
              <a:latin typeface="Calibri"/>
              <a:ea typeface="Calibri"/>
              <a:cs typeface="Calibri"/>
              <a:sym typeface="Calibri"/>
            </a:endParaRPr>
          </a:p>
        </p:txBody>
      </p:sp>
      <p:sp>
        <p:nvSpPr>
          <p:cNvPr id="405" name="Google Shape;405;p16"/>
          <p:cNvSpPr/>
          <p:nvPr/>
        </p:nvSpPr>
        <p:spPr>
          <a:xfrm>
            <a:off x="3264408" y="3017520"/>
            <a:ext cx="2615184"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950"/>
              <a:buFont typeface="Arial"/>
              <a:buNone/>
            </a:pPr>
            <a:r>
              <a:rPr b="1" i="0" lang="en-US" sz="950" u="none" cap="none" strike="noStrike">
                <a:solidFill>
                  <a:srgbClr val="7F7F7F"/>
                </a:solidFill>
                <a:latin typeface="Arial"/>
                <a:ea typeface="Arial"/>
                <a:cs typeface="Arial"/>
                <a:sym typeface="Arial"/>
              </a:rPr>
              <a:t>seq #8</a:t>
            </a:r>
            <a:endParaRPr b="0" i="0" sz="950" u="none" cap="none" strike="noStrike">
              <a:solidFill>
                <a:schemeClr val="dk1"/>
              </a:solidFill>
              <a:latin typeface="Calibri"/>
              <a:ea typeface="Calibri"/>
              <a:cs typeface="Calibri"/>
              <a:sym typeface="Calibri"/>
            </a:endParaRPr>
          </a:p>
        </p:txBody>
      </p:sp>
      <p:sp>
        <p:nvSpPr>
          <p:cNvPr id="406" name="Google Shape;406;p16"/>
          <p:cNvSpPr/>
          <p:nvPr/>
        </p:nvSpPr>
        <p:spPr>
          <a:xfrm>
            <a:off x="6117336" y="1133856"/>
            <a:ext cx="2615184" cy="420624"/>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6227064" y="1133856"/>
            <a:ext cx="239572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Siblings already transfused</a:t>
            </a:r>
            <a:endParaRPr b="0" i="0" sz="1200" u="none" cap="none" strike="noStrike">
              <a:solidFill>
                <a:schemeClr val="dk1"/>
              </a:solidFill>
              <a:latin typeface="Calibri"/>
              <a:ea typeface="Calibri"/>
              <a:cs typeface="Calibri"/>
              <a:sym typeface="Calibri"/>
            </a:endParaRPr>
          </a:p>
        </p:txBody>
      </p:sp>
      <p:sp>
        <p:nvSpPr>
          <p:cNvPr id="408" name="Google Shape;408;p16"/>
          <p:cNvSpPr/>
          <p:nvPr/>
        </p:nvSpPr>
        <p:spPr>
          <a:xfrm>
            <a:off x="6117336" y="1664208"/>
            <a:ext cx="261518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28A5"/>
              </a:buClr>
              <a:buSzPts val="1100"/>
              <a:buFont typeface="Courier New"/>
              <a:buNone/>
            </a:pPr>
            <a:r>
              <a:rPr b="1" i="0" lang="en-US" sz="1100" u="none" cap="none" strike="noStrike">
                <a:solidFill>
                  <a:srgbClr val="0028A5"/>
                </a:solidFill>
                <a:latin typeface="Courier New"/>
                <a:ea typeface="Courier New"/>
                <a:cs typeface="Courier New"/>
                <a:sym typeface="Courier New"/>
              </a:rPr>
              <a:t>POST_USE_ALERT</a:t>
            </a:r>
            <a:endParaRPr b="0" i="0" sz="1100" u="none" cap="none" strike="noStrike">
              <a:solidFill>
                <a:schemeClr val="dk1"/>
              </a:solidFill>
              <a:latin typeface="Calibri"/>
              <a:ea typeface="Calibri"/>
              <a:cs typeface="Calibri"/>
              <a:sym typeface="Calibri"/>
            </a:endParaRPr>
          </a:p>
        </p:txBody>
      </p:sp>
      <p:sp>
        <p:nvSpPr>
          <p:cNvPr id="409" name="Google Shape;409;p16"/>
          <p:cNvSpPr/>
          <p:nvPr/>
        </p:nvSpPr>
        <p:spPr>
          <a:xfrm>
            <a:off x="6117336" y="1975104"/>
            <a:ext cx="2560320" cy="10515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You cannot quarantine blood that is already in a patient. You can permanently record that follow-up is required.</a:t>
            </a:r>
            <a:endParaRPr b="0" i="0" sz="1100" u="none" cap="none" strike="noStrike">
              <a:solidFill>
                <a:schemeClr val="dk1"/>
              </a:solidFill>
              <a:latin typeface="Calibri"/>
              <a:ea typeface="Calibri"/>
              <a:cs typeface="Calibri"/>
              <a:sym typeface="Calibri"/>
            </a:endParaRPr>
          </a:p>
        </p:txBody>
      </p:sp>
      <p:sp>
        <p:nvSpPr>
          <p:cNvPr id="410" name="Google Shape;410;p16"/>
          <p:cNvSpPr/>
          <p:nvPr/>
        </p:nvSpPr>
        <p:spPr>
          <a:xfrm>
            <a:off x="6117336" y="3017520"/>
            <a:ext cx="2615184"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950"/>
              <a:buFont typeface="Arial"/>
              <a:buNone/>
            </a:pPr>
            <a:r>
              <a:rPr b="1" i="0" lang="en-US" sz="950" u="none" cap="none" strike="noStrike">
                <a:solidFill>
                  <a:srgbClr val="7F7F7F"/>
                </a:solidFill>
                <a:latin typeface="Arial"/>
                <a:ea typeface="Arial"/>
                <a:cs typeface="Arial"/>
                <a:sym typeface="Arial"/>
              </a:rPr>
              <a:t>—</a:t>
            </a:r>
            <a:endParaRPr b="0" i="0" sz="950" u="none" cap="none" strike="noStrike">
              <a:solidFill>
                <a:schemeClr val="dk1"/>
              </a:solidFill>
              <a:latin typeface="Calibri"/>
              <a:ea typeface="Calibri"/>
              <a:cs typeface="Calibri"/>
              <a:sym typeface="Calibri"/>
            </a:endParaRPr>
          </a:p>
        </p:txBody>
      </p:sp>
      <p:sp>
        <p:nvSpPr>
          <p:cNvPr id="411" name="Google Shape;411;p16"/>
          <p:cNvSpPr/>
          <p:nvPr/>
        </p:nvSpPr>
        <p:spPr>
          <a:xfrm>
            <a:off x="685800" y="3401568"/>
            <a:ext cx="7772400" cy="932688"/>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813816" y="3401568"/>
            <a:ext cx="7516368" cy="932688"/>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What a recall team does in hours to days by telephone happens in one transaction sweep —</a:t>
            </a:r>
            <a:endParaRPr b="0" i="0" sz="14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and the alerts land on a ledger every organisation in the chain is already watching.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542" name="Shape 542"/>
        <p:cNvGrpSpPr/>
        <p:nvPr/>
      </p:nvGrpSpPr>
      <p:grpSpPr>
        <a:xfrm>
          <a:off x="0" y="0"/>
          <a:ext cx="0" cy="0"/>
          <a:chOff x="0" y="0"/>
          <a:chExt cx="0" cy="0"/>
        </a:xfrm>
      </p:grpSpPr>
      <p:pic>
        <p:nvPicPr>
          <p:cNvPr descr="/sessions/zen-gracious-knuth/mnt/outputs/uzh_logos.png" id="543" name="Google Shape;543;p18"/>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544" name="Google Shape;544;p18"/>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545" name="Google Shape;545;p18"/>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18</a:t>
            </a:r>
            <a:endParaRPr b="0" i="0" sz="800" u="none" cap="none" strike="noStrike">
              <a:solidFill>
                <a:schemeClr val="dk1"/>
              </a:solidFill>
              <a:latin typeface="Calibri"/>
              <a:ea typeface="Calibri"/>
              <a:cs typeface="Calibri"/>
              <a:sym typeface="Calibri"/>
            </a:endParaRPr>
          </a:p>
        </p:txBody>
      </p:sp>
      <p:sp>
        <p:nvSpPr>
          <p:cNvPr id="546" name="Google Shape;546;p18"/>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Characterising the token</a:t>
            </a:r>
            <a:endParaRPr b="0" i="0" sz="2600" u="none" cap="none" strike="noStrike">
              <a:solidFill>
                <a:schemeClr val="dk1"/>
              </a:solidFill>
              <a:latin typeface="Calibri"/>
              <a:ea typeface="Calibri"/>
              <a:cs typeface="Calibri"/>
              <a:sym typeface="Calibri"/>
            </a:endParaRPr>
          </a:p>
        </p:txBody>
      </p:sp>
      <p:sp>
        <p:nvSpPr>
          <p:cNvPr id="547" name="Google Shape;547;p18"/>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BLOOD — HTS non-fungible token 0.0.9663839</a:t>
            </a:r>
            <a:endParaRPr b="0" i="0" sz="1300" u="none" cap="none" strike="noStrike">
              <a:solidFill>
                <a:schemeClr val="dk1"/>
              </a:solidFill>
              <a:latin typeface="Calibri"/>
              <a:ea typeface="Calibri"/>
              <a:cs typeface="Calibri"/>
              <a:sym typeface="Calibri"/>
            </a:endParaRPr>
          </a:p>
        </p:txBody>
      </p:sp>
      <p:sp>
        <p:nvSpPr>
          <p:cNvPr id="548" name="Google Shape;548;p18"/>
          <p:cNvSpPr/>
          <p:nvPr/>
        </p:nvSpPr>
        <p:spPr>
          <a:xfrm>
            <a:off x="411480" y="1115568"/>
            <a:ext cx="8321040" cy="576072"/>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539496" y="1115568"/>
            <a:ext cx="1554480"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1200"/>
              <a:buFont typeface="Arial"/>
              <a:buNone/>
            </a:pPr>
            <a:r>
              <a:rPr b="1" i="0" lang="en-US" sz="1200" u="none" cap="none" strike="noStrike">
                <a:solidFill>
                  <a:srgbClr val="0028A5"/>
                </a:solidFill>
                <a:latin typeface="Arial"/>
                <a:ea typeface="Arial"/>
                <a:cs typeface="Arial"/>
                <a:sym typeface="Arial"/>
              </a:rPr>
              <a:t>Type</a:t>
            </a:r>
            <a:endParaRPr b="0" i="0" sz="1200" u="none" cap="none" strike="noStrike">
              <a:solidFill>
                <a:schemeClr val="dk1"/>
              </a:solidFill>
              <a:latin typeface="Calibri"/>
              <a:ea typeface="Calibri"/>
              <a:cs typeface="Calibri"/>
              <a:sym typeface="Calibri"/>
            </a:endParaRPr>
          </a:p>
        </p:txBody>
      </p:sp>
      <p:sp>
        <p:nvSpPr>
          <p:cNvPr id="550" name="Google Shape;550;p18"/>
          <p:cNvSpPr/>
          <p:nvPr/>
        </p:nvSpPr>
        <p:spPr>
          <a:xfrm>
            <a:off x="2148840" y="1115568"/>
            <a:ext cx="6455664" cy="57607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Non-fungible registry / utility token. One NFT ≡ one physical unit. Not a payment token, not an investment instrument.</a:t>
            </a:r>
            <a:endParaRPr b="0" i="0" sz="1100" u="none" cap="none" strike="noStrike">
              <a:solidFill>
                <a:schemeClr val="dk1"/>
              </a:solidFill>
              <a:latin typeface="Calibri"/>
              <a:ea typeface="Calibri"/>
              <a:cs typeface="Calibri"/>
              <a:sym typeface="Calibri"/>
            </a:endParaRPr>
          </a:p>
        </p:txBody>
      </p:sp>
      <p:sp>
        <p:nvSpPr>
          <p:cNvPr id="551" name="Google Shape;551;p18"/>
          <p:cNvSpPr/>
          <p:nvPr/>
        </p:nvSpPr>
        <p:spPr>
          <a:xfrm>
            <a:off x="411480" y="1691640"/>
            <a:ext cx="8321040" cy="57607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539496" y="1691640"/>
            <a:ext cx="1554480"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1200"/>
              <a:buFont typeface="Arial"/>
              <a:buNone/>
            </a:pPr>
            <a:r>
              <a:rPr b="1" i="0" lang="en-US" sz="1200" u="none" cap="none" strike="noStrike">
                <a:solidFill>
                  <a:srgbClr val="0028A5"/>
                </a:solidFill>
                <a:latin typeface="Arial"/>
                <a:ea typeface="Arial"/>
                <a:cs typeface="Arial"/>
                <a:sym typeface="Arial"/>
              </a:rPr>
              <a:t>Supply numbers</a:t>
            </a:r>
            <a:endParaRPr b="0" i="0" sz="1200" u="none" cap="none" strike="noStrike">
              <a:solidFill>
                <a:schemeClr val="dk1"/>
              </a:solidFill>
              <a:latin typeface="Calibri"/>
              <a:ea typeface="Calibri"/>
              <a:cs typeface="Calibri"/>
              <a:sym typeface="Calibri"/>
            </a:endParaRPr>
          </a:p>
        </p:txBody>
      </p:sp>
      <p:sp>
        <p:nvSpPr>
          <p:cNvPr id="553" name="Google Shape;553;p18"/>
          <p:cNvSpPr/>
          <p:nvPr/>
        </p:nvSpPr>
        <p:spPr>
          <a:xfrm>
            <a:off x="2148840" y="1691640"/>
            <a:ext cx="6455664" cy="57607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No cap, no pre-mine, no initial allocation, no founder allocation. Circulating supply ≡ the number of blood units physically in circulation.</a:t>
            </a:r>
            <a:endParaRPr b="0" i="0" sz="1100" u="none" cap="none" strike="noStrike">
              <a:solidFill>
                <a:schemeClr val="dk1"/>
              </a:solidFill>
              <a:latin typeface="Calibri"/>
              <a:ea typeface="Calibri"/>
              <a:cs typeface="Calibri"/>
              <a:sym typeface="Calibri"/>
            </a:endParaRPr>
          </a:p>
        </p:txBody>
      </p:sp>
      <p:sp>
        <p:nvSpPr>
          <p:cNvPr id="554" name="Google Shape;554;p18"/>
          <p:cNvSpPr/>
          <p:nvPr/>
        </p:nvSpPr>
        <p:spPr>
          <a:xfrm>
            <a:off x="411480" y="2267712"/>
            <a:ext cx="8321040" cy="576072"/>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539496" y="2267712"/>
            <a:ext cx="1554480"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1200"/>
              <a:buFont typeface="Arial"/>
              <a:buNone/>
            </a:pPr>
            <a:r>
              <a:rPr b="1" i="0" lang="en-US" sz="1200" u="none" cap="none" strike="noStrike">
                <a:solidFill>
                  <a:srgbClr val="0028A5"/>
                </a:solidFill>
                <a:latin typeface="Arial"/>
                <a:ea typeface="Arial"/>
                <a:cs typeface="Arial"/>
                <a:sym typeface="Arial"/>
              </a:rPr>
              <a:t>Supply policy</a:t>
            </a:r>
            <a:endParaRPr b="0" i="0" sz="1200" u="none" cap="none" strike="noStrike">
              <a:solidFill>
                <a:schemeClr val="dk1"/>
              </a:solidFill>
              <a:latin typeface="Calibri"/>
              <a:ea typeface="Calibri"/>
              <a:cs typeface="Calibri"/>
              <a:sym typeface="Calibri"/>
            </a:endParaRPr>
          </a:p>
        </p:txBody>
      </p:sp>
      <p:sp>
        <p:nvSpPr>
          <p:cNvPr id="556" name="Google Shape;556;p18"/>
          <p:cNvSpPr/>
          <p:nvPr/>
        </p:nvSpPr>
        <p:spPr>
          <a:xfrm>
            <a:off x="2148840" y="2267712"/>
            <a:ext cx="6455664" cy="57607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Minted on collection under the supply key; burned on transfusion or disposal under the wipe key. Supply is determined by physical reality, never by a schedule.</a:t>
            </a:r>
            <a:endParaRPr b="0" i="0" sz="1100" u="none" cap="none" strike="noStrike">
              <a:solidFill>
                <a:schemeClr val="dk1"/>
              </a:solidFill>
              <a:latin typeface="Calibri"/>
              <a:ea typeface="Calibri"/>
              <a:cs typeface="Calibri"/>
              <a:sym typeface="Calibri"/>
            </a:endParaRPr>
          </a:p>
        </p:txBody>
      </p:sp>
      <p:sp>
        <p:nvSpPr>
          <p:cNvPr id="557" name="Google Shape;557;p18"/>
          <p:cNvSpPr/>
          <p:nvPr/>
        </p:nvSpPr>
        <p:spPr>
          <a:xfrm>
            <a:off x="411480" y="2843784"/>
            <a:ext cx="8321040" cy="57607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539496" y="2843784"/>
            <a:ext cx="1554480"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1200"/>
              <a:buFont typeface="Arial"/>
              <a:buNone/>
            </a:pPr>
            <a:r>
              <a:rPr b="1" i="0" lang="en-US" sz="1200" u="none" cap="none" strike="noStrike">
                <a:solidFill>
                  <a:srgbClr val="0028A5"/>
                </a:solidFill>
                <a:latin typeface="Arial"/>
                <a:ea typeface="Arial"/>
                <a:cs typeface="Arial"/>
                <a:sym typeface="Arial"/>
              </a:rPr>
              <a:t>Pricing</a:t>
            </a:r>
            <a:endParaRPr b="0" i="0" sz="1200" u="none" cap="none" strike="noStrike">
              <a:solidFill>
                <a:schemeClr val="dk1"/>
              </a:solidFill>
              <a:latin typeface="Calibri"/>
              <a:ea typeface="Calibri"/>
              <a:cs typeface="Calibri"/>
              <a:sym typeface="Calibri"/>
            </a:endParaRPr>
          </a:p>
        </p:txBody>
      </p:sp>
      <p:sp>
        <p:nvSpPr>
          <p:cNvPr id="559" name="Google Shape;559;p18"/>
          <p:cNvSpPr/>
          <p:nvPr/>
        </p:nvSpPr>
        <p:spPr>
          <a:xfrm>
            <a:off x="2148840" y="2843784"/>
            <a:ext cx="6455664" cy="57607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Deliberately none. The token is not listed, not priced and not transferable outside a cleared custody hand-off.</a:t>
            </a:r>
            <a:endParaRPr b="0" i="0" sz="1100" u="none" cap="none" strike="noStrike">
              <a:solidFill>
                <a:schemeClr val="dk1"/>
              </a:solidFill>
              <a:latin typeface="Calibri"/>
              <a:ea typeface="Calibri"/>
              <a:cs typeface="Calibri"/>
              <a:sym typeface="Calibri"/>
            </a:endParaRPr>
          </a:p>
        </p:txBody>
      </p:sp>
      <p:sp>
        <p:nvSpPr>
          <p:cNvPr id="560" name="Google Shape;560;p18"/>
          <p:cNvSpPr/>
          <p:nvPr/>
        </p:nvSpPr>
        <p:spPr>
          <a:xfrm>
            <a:off x="685800" y="3675888"/>
            <a:ext cx="7772400" cy="82296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813816" y="3675888"/>
            <a:ext cx="7516368" cy="82296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 priced, tradeable blood token would manufacture exactly the black market we are trying to close.</a:t>
            </a:r>
            <a:endParaRPr b="0" i="0" sz="14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This is a provenance token, not a value token — and that refusal is the design choice.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566" name="Shape 566"/>
        <p:cNvGrpSpPr/>
        <p:nvPr/>
      </p:nvGrpSpPr>
      <p:grpSpPr>
        <a:xfrm>
          <a:off x="0" y="0"/>
          <a:ext cx="0" cy="0"/>
          <a:chOff x="0" y="0"/>
          <a:chExt cx="0" cy="0"/>
        </a:xfrm>
      </p:grpSpPr>
      <p:pic>
        <p:nvPicPr>
          <p:cNvPr descr="/sessions/zen-gracious-knuth/mnt/outputs/uzh_logos.png" id="567" name="Google Shape;567;p19"/>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568" name="Google Shape;568;p19"/>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569" name="Google Shape;569;p19"/>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19</a:t>
            </a:r>
            <a:endParaRPr b="0" i="0" sz="800" u="none" cap="none" strike="noStrike">
              <a:solidFill>
                <a:schemeClr val="dk1"/>
              </a:solidFill>
              <a:latin typeface="Calibri"/>
              <a:ea typeface="Calibri"/>
              <a:cs typeface="Calibri"/>
              <a:sym typeface="Calibri"/>
            </a:endParaRPr>
          </a:p>
        </p:txBody>
      </p:sp>
      <p:sp>
        <p:nvSpPr>
          <p:cNvPr id="570" name="Google Shape;570;p19"/>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Where the economics actually live: bonds</a:t>
            </a:r>
            <a:endParaRPr b="0" i="0" sz="2600" u="none" cap="none" strike="noStrike">
              <a:solidFill>
                <a:schemeClr val="dk1"/>
              </a:solidFill>
              <a:latin typeface="Calibri"/>
              <a:ea typeface="Calibri"/>
              <a:cs typeface="Calibri"/>
              <a:sym typeface="Calibri"/>
            </a:endParaRPr>
          </a:p>
        </p:txBody>
      </p:sp>
      <p:sp>
        <p:nvSpPr>
          <p:cNvPr id="571" name="Google Shape;571;p19"/>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BloodOversight.sol — 10 HBAR bonds · total ledger cost &lt; $0.05 per unit, ~0.02% of a unit’s ≈ $214 hospital cost</a:t>
            </a:r>
            <a:endParaRPr b="0" i="0" sz="1300" u="none" cap="none" strike="noStrike">
              <a:solidFill>
                <a:schemeClr val="dk1"/>
              </a:solidFill>
              <a:latin typeface="Calibri"/>
              <a:ea typeface="Calibri"/>
              <a:cs typeface="Calibri"/>
              <a:sym typeface="Calibri"/>
            </a:endParaRPr>
          </a:p>
        </p:txBody>
      </p:sp>
      <p:sp>
        <p:nvSpPr>
          <p:cNvPr id="572" name="Google Shape;572;p19"/>
          <p:cNvSpPr/>
          <p:nvPr/>
        </p:nvSpPr>
        <p:spPr>
          <a:xfrm>
            <a:off x="411480" y="1115568"/>
            <a:ext cx="2615184" cy="603504"/>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coin.png" id="573" name="Google Shape;573;p19"/>
          <p:cNvPicPr preferRelativeResize="0"/>
          <p:nvPr/>
        </p:nvPicPr>
        <p:blipFill rotWithShape="1">
          <a:blip r:embed="rId4">
            <a:alphaModFix/>
          </a:blip>
          <a:srcRect b="0" l="0" r="0" t="0"/>
          <a:stretch/>
        </p:blipFill>
        <p:spPr>
          <a:xfrm>
            <a:off x="1481328" y="1179576"/>
            <a:ext cx="475488" cy="475488"/>
          </a:xfrm>
          <a:prstGeom prst="rect">
            <a:avLst/>
          </a:prstGeom>
          <a:noFill/>
          <a:ln>
            <a:noFill/>
          </a:ln>
        </p:spPr>
      </p:pic>
      <p:sp>
        <p:nvSpPr>
          <p:cNvPr id="574" name="Google Shape;574;p19"/>
          <p:cNvSpPr/>
          <p:nvPr/>
        </p:nvSpPr>
        <p:spPr>
          <a:xfrm>
            <a:off x="411480" y="1819656"/>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Skin in the game</a:t>
            </a:r>
            <a:endParaRPr b="0" i="0" sz="1400" u="none" cap="none" strike="noStrike">
              <a:solidFill>
                <a:schemeClr val="dk1"/>
              </a:solidFill>
              <a:latin typeface="Calibri"/>
              <a:ea typeface="Calibri"/>
              <a:cs typeface="Calibri"/>
              <a:sym typeface="Calibri"/>
            </a:endParaRPr>
          </a:p>
        </p:txBody>
      </p:sp>
      <p:sp>
        <p:nvSpPr>
          <p:cNvPr id="575" name="Google Shape;575;p19"/>
          <p:cNvSpPr/>
          <p:nvPr/>
        </p:nvSpPr>
        <p:spPr>
          <a:xfrm>
            <a:off x="411480" y="2148840"/>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Every organisation posts a bond at registration, from its own account. This turns punishment from a note in somebody's database into an automatic economic consequence that needs nobody's cooperation to execute.</a:t>
            </a:r>
            <a:endParaRPr b="0" i="0" sz="1100" u="none" cap="none" strike="noStrike">
              <a:solidFill>
                <a:schemeClr val="dk1"/>
              </a:solidFill>
              <a:latin typeface="Calibri"/>
              <a:ea typeface="Calibri"/>
              <a:cs typeface="Calibri"/>
              <a:sym typeface="Calibri"/>
            </a:endParaRPr>
          </a:p>
        </p:txBody>
      </p:sp>
      <p:sp>
        <p:nvSpPr>
          <p:cNvPr id="576" name="Google Shape;576;p19"/>
          <p:cNvSpPr/>
          <p:nvPr/>
        </p:nvSpPr>
        <p:spPr>
          <a:xfrm>
            <a:off x="3264408" y="1115568"/>
            <a:ext cx="2615184" cy="603504"/>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shield.png" id="577" name="Google Shape;577;p19"/>
          <p:cNvPicPr preferRelativeResize="0"/>
          <p:nvPr/>
        </p:nvPicPr>
        <p:blipFill rotWithShape="1">
          <a:blip r:embed="rId5">
            <a:alphaModFix/>
          </a:blip>
          <a:srcRect b="0" l="0" r="0" t="0"/>
          <a:stretch/>
        </p:blipFill>
        <p:spPr>
          <a:xfrm>
            <a:off x="4334256" y="1179576"/>
            <a:ext cx="475488" cy="475488"/>
          </a:xfrm>
          <a:prstGeom prst="rect">
            <a:avLst/>
          </a:prstGeom>
          <a:noFill/>
          <a:ln>
            <a:noFill/>
          </a:ln>
        </p:spPr>
      </p:pic>
      <p:sp>
        <p:nvSpPr>
          <p:cNvPr id="578" name="Google Shape;578;p19"/>
          <p:cNvSpPr/>
          <p:nvPr/>
        </p:nvSpPr>
        <p:spPr>
          <a:xfrm>
            <a:off x="3264408" y="1819656"/>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Graduated slashing</a:t>
            </a:r>
            <a:endParaRPr b="0" i="0" sz="1400" u="none" cap="none" strike="noStrike">
              <a:solidFill>
                <a:schemeClr val="dk1"/>
              </a:solidFill>
              <a:latin typeface="Calibri"/>
              <a:ea typeface="Calibri"/>
              <a:cs typeface="Calibri"/>
              <a:sym typeface="Calibri"/>
            </a:endParaRPr>
          </a:p>
        </p:txBody>
      </p:sp>
      <p:sp>
        <p:nvSpPr>
          <p:cNvPr id="579" name="Google Shape;579;p19"/>
          <p:cNvSpPr/>
          <p:nvPr/>
        </p:nvSpPr>
        <p:spPr>
          <a:xfrm>
            <a:off x="3264408" y="2148840"/>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A guilty verdict slashes at most 20% of the remaining bond. Each successive slash is therefore smaller in absolute terms, so one verdict — even a mistaken one — never destroys a participant.</a:t>
            </a:r>
            <a:endParaRPr b="0" i="0" sz="1100" u="none" cap="none" strike="noStrike">
              <a:solidFill>
                <a:schemeClr val="dk1"/>
              </a:solidFill>
              <a:latin typeface="Calibri"/>
              <a:ea typeface="Calibri"/>
              <a:cs typeface="Calibri"/>
              <a:sym typeface="Calibri"/>
            </a:endParaRPr>
          </a:p>
        </p:txBody>
      </p:sp>
      <p:sp>
        <p:nvSpPr>
          <p:cNvPr id="580" name="Google Shape;580;p19"/>
          <p:cNvSpPr/>
          <p:nvPr/>
        </p:nvSpPr>
        <p:spPr>
          <a:xfrm>
            <a:off x="6117336" y="1115568"/>
            <a:ext cx="2615184" cy="603504"/>
          </a:xfrm>
          <a:prstGeom prst="rect">
            <a:avLst/>
          </a:prstGeom>
          <a:solidFill>
            <a:srgbClr val="0028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users.png" id="581" name="Google Shape;581;p19"/>
          <p:cNvPicPr preferRelativeResize="0"/>
          <p:nvPr/>
        </p:nvPicPr>
        <p:blipFill rotWithShape="1">
          <a:blip r:embed="rId6">
            <a:alphaModFix/>
          </a:blip>
          <a:srcRect b="0" l="0" r="0" t="0"/>
          <a:stretch/>
        </p:blipFill>
        <p:spPr>
          <a:xfrm>
            <a:off x="7187184" y="1179576"/>
            <a:ext cx="475488" cy="475488"/>
          </a:xfrm>
          <a:prstGeom prst="rect">
            <a:avLst/>
          </a:prstGeom>
          <a:noFill/>
          <a:ln>
            <a:noFill/>
          </a:ln>
        </p:spPr>
      </p:pic>
      <p:sp>
        <p:nvSpPr>
          <p:cNvPr id="582" name="Google Shape;582;p19"/>
          <p:cNvSpPr/>
          <p:nvPr/>
        </p:nvSpPr>
        <p:spPr>
          <a:xfrm>
            <a:off x="6117336" y="1819656"/>
            <a:ext cx="26151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Suspension needs a pattern</a:t>
            </a:r>
            <a:endParaRPr b="0" i="0" sz="1400" u="none" cap="none" strike="noStrike">
              <a:solidFill>
                <a:schemeClr val="dk1"/>
              </a:solidFill>
              <a:latin typeface="Calibri"/>
              <a:ea typeface="Calibri"/>
              <a:cs typeface="Calibri"/>
              <a:sym typeface="Calibri"/>
            </a:endParaRPr>
          </a:p>
        </p:txBody>
      </p:sp>
      <p:sp>
        <p:nvSpPr>
          <p:cNvPr id="583" name="Google Shape;583;p19"/>
          <p:cNvSpPr/>
          <p:nvPr/>
        </p:nvSpPr>
        <p:spPr>
          <a:xfrm>
            <a:off x="6117336" y="2148840"/>
            <a:ext cx="2615184" cy="182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3F3F"/>
              </a:buClr>
              <a:buSzPts val="1100"/>
              <a:buFont typeface="Arial"/>
              <a:buNone/>
            </a:pPr>
            <a:r>
              <a:rPr b="0" i="0" lang="en-US" sz="1100" u="none" cap="none" strike="noStrike">
                <a:solidFill>
                  <a:srgbClr val="3F3F3F"/>
                </a:solidFill>
                <a:latin typeface="Arial"/>
                <a:ea typeface="Arial"/>
                <a:cs typeface="Arial"/>
                <a:sym typeface="Arial"/>
              </a:rPr>
              <a:t>Five guilty verdicts, or a bond ground below 2.5 HBAR. A hospital removed from the blood supply over a single finding would hurt patients more than the fraud did. There is a road back.</a:t>
            </a:r>
            <a:endParaRPr b="0" i="0" sz="1100" u="none" cap="none" strike="noStrike">
              <a:solidFill>
                <a:schemeClr val="dk1"/>
              </a:solidFill>
              <a:latin typeface="Calibri"/>
              <a:ea typeface="Calibri"/>
              <a:cs typeface="Calibri"/>
              <a:sym typeface="Calibri"/>
            </a:endParaRPr>
          </a:p>
        </p:txBody>
      </p:sp>
      <p:sp>
        <p:nvSpPr>
          <p:cNvPr id="584" name="Google Shape;584;p19"/>
          <p:cNvSpPr/>
          <p:nvPr/>
        </p:nvSpPr>
        <p:spPr>
          <a:xfrm>
            <a:off x="411480" y="3566160"/>
            <a:ext cx="8321040" cy="420624"/>
          </a:xfrm>
          <a:prstGeom prst="rect">
            <a:avLst/>
          </a:prstGeom>
          <a:solidFill>
            <a:srgbClr val="E9ED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9"/>
          <p:cNvSpPr/>
          <p:nvPr/>
        </p:nvSpPr>
        <p:spPr>
          <a:xfrm>
            <a:off x="557784" y="3566160"/>
            <a:ext cx="802843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28A5"/>
              </a:buClr>
              <a:buSzPts val="1050"/>
              <a:buFont typeface="Arial"/>
              <a:buNone/>
            </a:pPr>
            <a:r>
              <a:rPr b="1" i="0" lang="en-US" sz="1050" u="none" cap="none" strike="noStrike">
                <a:solidFill>
                  <a:srgbClr val="0028A5"/>
                </a:solidFill>
                <a:latin typeface="Arial"/>
                <a:ea typeface="Arial"/>
                <a:cs typeface="Arial"/>
                <a:sym typeface="Arial"/>
              </a:rPr>
              <a:t>Our live run:  </a:t>
            </a:r>
            <a:r>
              <a:rPr b="0" i="0" lang="en-US" sz="1050" u="none" cap="none" strike="noStrike">
                <a:solidFill>
                  <a:srgbClr val="3F3F3F"/>
                </a:solidFill>
                <a:latin typeface="Arial"/>
                <a:ea typeface="Arial"/>
                <a:cs typeface="Arial"/>
                <a:sym typeface="Arial"/>
              </a:rPr>
              <a:t>guilty · 2 HBAR requested = exactly the 20% cap · bond 10 → 8 · scandals 0 → 1 · </a:t>
            </a:r>
            <a:r>
              <a:rPr b="1" i="0" lang="en-US" sz="1050" u="none" cap="none" strike="noStrike">
                <a:solidFill>
                  <a:srgbClr val="5E8A26"/>
                </a:solidFill>
                <a:latin typeface="Arial"/>
                <a:ea typeface="Arial"/>
                <a:cs typeface="Arial"/>
                <a:sym typeface="Arial"/>
              </a:rPr>
              <a:t>not suspended</a:t>
            </a:r>
            <a:endParaRPr b="0" i="0" sz="1050" u="none" cap="none" strike="noStrike">
              <a:solidFill>
                <a:schemeClr val="dk1"/>
              </a:solidFill>
              <a:latin typeface="Calibri"/>
              <a:ea typeface="Calibri"/>
              <a:cs typeface="Calibri"/>
              <a:sym typeface="Calibri"/>
            </a:endParaRPr>
          </a:p>
        </p:txBody>
      </p:sp>
      <p:sp>
        <p:nvSpPr>
          <p:cNvPr id="586" name="Google Shape;586;p19"/>
          <p:cNvSpPr/>
          <p:nvPr/>
        </p:nvSpPr>
        <p:spPr>
          <a:xfrm>
            <a:off x="1417320" y="4078224"/>
            <a:ext cx="6309360" cy="365760"/>
          </a:xfrm>
          <a:prstGeom prst="rect">
            <a:avLst/>
          </a:prstGeom>
          <a:solidFill>
            <a:srgbClr val="F8D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9"/>
          <p:cNvSpPr/>
          <p:nvPr/>
        </p:nvSpPr>
        <p:spPr>
          <a:xfrm>
            <a:off x="1545336" y="4078224"/>
            <a:ext cx="6053328" cy="36576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00000"/>
              </a:buClr>
              <a:buSzPts val="1300"/>
              <a:buFont typeface="Arial"/>
              <a:buNone/>
            </a:pPr>
            <a:r>
              <a:rPr b="0" i="1" lang="en-US" sz="1300" u="none" cap="none" strike="noStrike">
                <a:solidFill>
                  <a:srgbClr val="000000"/>
                </a:solidFill>
                <a:latin typeface="Arial"/>
                <a:ea typeface="Arial"/>
                <a:cs typeface="Arial"/>
                <a:sym typeface="Arial"/>
              </a:rPr>
              <a:t>Punishment is a gradient, not a cliff.</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656" name="Shape 656"/>
        <p:cNvGrpSpPr/>
        <p:nvPr/>
      </p:nvGrpSpPr>
      <p:grpSpPr>
        <a:xfrm>
          <a:off x="0" y="0"/>
          <a:ext cx="0" cy="0"/>
          <a:chOff x="0" y="0"/>
          <a:chExt cx="0" cy="0"/>
        </a:xfrm>
      </p:grpSpPr>
      <p:pic>
        <p:nvPicPr>
          <p:cNvPr descr="/sessions/zen-gracious-knuth/mnt/outputs/uzh_logos.png" id="657" name="Google Shape;657;p23"/>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658" name="Google Shape;658;p23"/>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659" name="Google Shape;659;p23"/>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23</a:t>
            </a:r>
            <a:endParaRPr b="0" i="0" sz="800" u="none" cap="none" strike="noStrike">
              <a:solidFill>
                <a:schemeClr val="dk1"/>
              </a:solidFill>
              <a:latin typeface="Calibri"/>
              <a:ea typeface="Calibri"/>
              <a:cs typeface="Calibri"/>
              <a:sym typeface="Calibri"/>
            </a:endParaRPr>
          </a:p>
        </p:txBody>
      </p:sp>
      <p:sp>
        <p:nvSpPr>
          <p:cNvPr id="660" name="Google Shape;660;p23"/>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Limits, governance, and the law</a:t>
            </a:r>
            <a:endParaRPr b="0" i="0" sz="2600" u="none" cap="none" strike="noStrike">
              <a:solidFill>
                <a:schemeClr val="dk1"/>
              </a:solidFill>
              <a:latin typeface="Calibri"/>
              <a:ea typeface="Calibri"/>
              <a:cs typeface="Calibri"/>
              <a:sym typeface="Calibri"/>
            </a:endParaRPr>
          </a:p>
        </p:txBody>
      </p:sp>
      <p:sp>
        <p:nvSpPr>
          <p:cNvPr id="661" name="Google Shape;661;p23"/>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0000"/>
              </a:buClr>
              <a:buSzPts val="1300"/>
              <a:buFont typeface="Arial"/>
              <a:buNone/>
            </a:pPr>
            <a:r>
              <a:rPr b="1" i="1" lang="en-US" sz="1300" u="none" cap="none" strike="noStrike">
                <a:solidFill>
                  <a:srgbClr val="C00000"/>
                </a:solidFill>
                <a:latin typeface="Arial"/>
                <a:ea typeface="Arial"/>
                <a:cs typeface="Arial"/>
                <a:sym typeface="Arial"/>
              </a:rPr>
              <a:t>Process problems, named rather than hidden — cryptography cannot solve these, and we do not claim it can.</a:t>
            </a:r>
            <a:endParaRPr b="0" i="0" sz="1300" u="none" cap="none" strike="noStrike">
              <a:solidFill>
                <a:schemeClr val="dk1"/>
              </a:solidFill>
              <a:latin typeface="Calibri"/>
              <a:ea typeface="Calibri"/>
              <a:cs typeface="Calibri"/>
              <a:sym typeface="Calibri"/>
            </a:endParaRPr>
          </a:p>
        </p:txBody>
      </p:sp>
      <p:sp>
        <p:nvSpPr>
          <p:cNvPr id="662" name="Google Shape;662;p23"/>
          <p:cNvSpPr/>
          <p:nvPr/>
        </p:nvSpPr>
        <p:spPr>
          <a:xfrm>
            <a:off x="411480" y="1188720"/>
            <a:ext cx="457200" cy="45720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alert.png" id="663" name="Google Shape;663;p23"/>
          <p:cNvPicPr preferRelativeResize="0"/>
          <p:nvPr/>
        </p:nvPicPr>
        <p:blipFill rotWithShape="1">
          <a:blip r:embed="rId4">
            <a:alphaModFix/>
          </a:blip>
          <a:srcRect b="0" l="0" r="0" t="0"/>
          <a:stretch/>
        </p:blipFill>
        <p:spPr>
          <a:xfrm>
            <a:off x="525780" y="1303020"/>
            <a:ext cx="228600" cy="228600"/>
          </a:xfrm>
          <a:prstGeom prst="rect">
            <a:avLst/>
          </a:prstGeom>
          <a:noFill/>
          <a:ln>
            <a:noFill/>
          </a:ln>
        </p:spPr>
      </p:pic>
      <p:sp>
        <p:nvSpPr>
          <p:cNvPr id="664" name="Google Shape;664;p23"/>
          <p:cNvSpPr/>
          <p:nvPr/>
        </p:nvSpPr>
        <p:spPr>
          <a:xfrm>
            <a:off x="1014984" y="1188720"/>
            <a:ext cx="771753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The oracle problem</a:t>
            </a:r>
            <a:endParaRPr b="0" i="0" sz="1500" u="none" cap="none" strike="noStrike">
              <a:solidFill>
                <a:schemeClr val="dk1"/>
              </a:solidFill>
              <a:latin typeface="Calibri"/>
              <a:ea typeface="Calibri"/>
              <a:cs typeface="Calibri"/>
              <a:sym typeface="Calibri"/>
            </a:endParaRPr>
          </a:p>
        </p:txBody>
      </p:sp>
      <p:sp>
        <p:nvSpPr>
          <p:cNvPr id="665" name="Google Shape;665;p23"/>
          <p:cNvSpPr/>
          <p:nvPr/>
        </p:nvSpPr>
        <p:spPr>
          <a:xfrm>
            <a:off x="1014984" y="1682496"/>
            <a:ext cx="7671816"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3F3F3F"/>
              </a:buClr>
              <a:buSzPts val="1050"/>
              <a:buFont typeface="Arial"/>
              <a:buNone/>
            </a:pPr>
            <a:r>
              <a:rPr b="0" i="0" lang="en-US" sz="1050" u="none" cap="none" strike="noStrike">
                <a:solidFill>
                  <a:srgbClr val="3F3F3F"/>
                </a:solidFill>
                <a:latin typeface="Arial"/>
                <a:ea typeface="Arial"/>
                <a:cs typeface="Arial"/>
                <a:sym typeface="Arial"/>
              </a:rPr>
              <a:t>The chain proves a record was not altered after it was written. It does not prove the record was true when it was written. A lab can submit a wrong verdict, and our gate will faithfully enforce the wrong verdict.</a:t>
            </a:r>
            <a:endParaRPr b="0" i="0" sz="1050" u="none" cap="none" strike="noStrike">
              <a:solidFill>
                <a:schemeClr val="dk1"/>
              </a:solidFill>
              <a:latin typeface="Calibri"/>
              <a:ea typeface="Calibri"/>
              <a:cs typeface="Calibri"/>
              <a:sym typeface="Calibri"/>
            </a:endParaRPr>
          </a:p>
        </p:txBody>
      </p:sp>
      <p:sp>
        <p:nvSpPr>
          <p:cNvPr id="666" name="Google Shape;666;p23"/>
          <p:cNvSpPr/>
          <p:nvPr/>
        </p:nvSpPr>
        <p:spPr>
          <a:xfrm>
            <a:off x="1014984" y="2176272"/>
            <a:ext cx="7671816" cy="512064"/>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3"/>
          <p:cNvSpPr/>
          <p:nvPr/>
        </p:nvSpPr>
        <p:spPr>
          <a:xfrm>
            <a:off x="1143000" y="2176272"/>
            <a:ext cx="7415784"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950"/>
              <a:buFont typeface="Arial"/>
              <a:buNone/>
            </a:pPr>
            <a:r>
              <a:rPr b="0" i="0" lang="en-US" sz="950" u="none" cap="none" strike="noStrike">
                <a:solidFill>
                  <a:srgbClr val="3F3F3F"/>
                </a:solidFill>
                <a:latin typeface="Arial"/>
                <a:ea typeface="Arial"/>
                <a:cs typeface="Arial"/>
                <a:sym typeface="Arial"/>
              </a:rPr>
              <a:t>In place: every result is signed by an authorised lab key and tagged to a registered staff hash — so wrongness is never anonymous.     Production: independent re-testing samples, multiple attesting labs, random audits.</a:t>
            </a:r>
            <a:endParaRPr b="0" i="0" sz="950" u="none" cap="none" strike="noStrike">
              <a:solidFill>
                <a:schemeClr val="dk1"/>
              </a:solidFill>
              <a:latin typeface="Calibri"/>
              <a:ea typeface="Calibri"/>
              <a:cs typeface="Calibri"/>
              <a:sym typeface="Calibri"/>
            </a:endParaRPr>
          </a:p>
        </p:txBody>
      </p:sp>
      <p:sp>
        <p:nvSpPr>
          <p:cNvPr id="668" name="Google Shape;668;p23"/>
          <p:cNvSpPr/>
          <p:nvPr/>
        </p:nvSpPr>
        <p:spPr>
          <a:xfrm>
            <a:off x="411480" y="2816352"/>
            <a:ext cx="457200" cy="45720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eye.png" id="669" name="Google Shape;669;p23"/>
          <p:cNvPicPr preferRelativeResize="0"/>
          <p:nvPr/>
        </p:nvPicPr>
        <p:blipFill rotWithShape="1">
          <a:blip r:embed="rId5">
            <a:alphaModFix/>
          </a:blip>
          <a:srcRect b="0" l="0" r="0" t="0"/>
          <a:stretch/>
        </p:blipFill>
        <p:spPr>
          <a:xfrm>
            <a:off x="525780" y="2930652"/>
            <a:ext cx="228600" cy="228600"/>
          </a:xfrm>
          <a:prstGeom prst="rect">
            <a:avLst/>
          </a:prstGeom>
          <a:noFill/>
          <a:ln>
            <a:noFill/>
          </a:ln>
        </p:spPr>
      </p:pic>
      <p:sp>
        <p:nvSpPr>
          <p:cNvPr id="670" name="Google Shape;670;p23"/>
          <p:cNvSpPr/>
          <p:nvPr/>
        </p:nvSpPr>
        <p:spPr>
          <a:xfrm>
            <a:off x="1014984" y="2816352"/>
            <a:ext cx="771753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The diversion gap</a:t>
            </a:r>
            <a:endParaRPr b="0" i="0" sz="1500" u="none" cap="none" strike="noStrike">
              <a:solidFill>
                <a:schemeClr val="dk1"/>
              </a:solidFill>
              <a:latin typeface="Calibri"/>
              <a:ea typeface="Calibri"/>
              <a:cs typeface="Calibri"/>
              <a:sym typeface="Calibri"/>
            </a:endParaRPr>
          </a:p>
        </p:txBody>
      </p:sp>
      <p:sp>
        <p:nvSpPr>
          <p:cNvPr id="671" name="Google Shape;671;p23"/>
          <p:cNvSpPr/>
          <p:nvPr/>
        </p:nvSpPr>
        <p:spPr>
          <a:xfrm>
            <a:off x="1014984" y="3310128"/>
            <a:ext cx="7671816"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3F3F3F"/>
              </a:buClr>
              <a:buSzPts val="1050"/>
              <a:buFont typeface="Arial"/>
              <a:buNone/>
            </a:pPr>
            <a:r>
              <a:rPr b="0" i="0" lang="en-US" sz="1050" u="none" cap="none" strike="noStrike">
                <a:solidFill>
                  <a:srgbClr val="3F3F3F"/>
                </a:solidFill>
                <a:latin typeface="Arial"/>
                <a:ea typeface="Arial"/>
                <a:cs typeface="Arial"/>
                <a:sym typeface="Arial"/>
              </a:rPr>
              <a:t>A hospital that fakes a TRANSFUSED event and diverts the unit defeats our stale-unit monitor entirely — the chain sees a perfectly legitimate-looking closure.</a:t>
            </a:r>
            <a:endParaRPr b="0" i="0" sz="1050" u="none" cap="none" strike="noStrike">
              <a:solidFill>
                <a:schemeClr val="dk1"/>
              </a:solidFill>
              <a:latin typeface="Calibri"/>
              <a:ea typeface="Calibri"/>
              <a:cs typeface="Calibri"/>
              <a:sym typeface="Calibri"/>
            </a:endParaRPr>
          </a:p>
        </p:txBody>
      </p:sp>
      <p:sp>
        <p:nvSpPr>
          <p:cNvPr id="672" name="Google Shape;672;p23"/>
          <p:cNvSpPr/>
          <p:nvPr/>
        </p:nvSpPr>
        <p:spPr>
          <a:xfrm>
            <a:off x="1014984" y="3803904"/>
            <a:ext cx="7671816" cy="512064"/>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3"/>
          <p:cNvSpPr/>
          <p:nvPr/>
        </p:nvSpPr>
        <p:spPr>
          <a:xfrm>
            <a:off x="1143000" y="3803904"/>
            <a:ext cx="7415784"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F3F3F"/>
              </a:buClr>
              <a:buSzPts val="950"/>
              <a:buFont typeface="Arial"/>
              <a:buNone/>
            </a:pPr>
            <a:r>
              <a:rPr b="0" i="0" lang="en-US" sz="950" u="none" cap="none" strike="noStrike">
                <a:solidFill>
                  <a:srgbClr val="3F3F3F"/>
                </a:solidFill>
                <a:latin typeface="Arial"/>
                <a:ea typeface="Arial"/>
                <a:cs typeface="Arial"/>
                <a:sym typeface="Arial"/>
              </a:rPr>
              <a:t>The countermeasure is off-chain reconciliation against patient records — a chain event with no matching patient record is the signature of a faked closure.     Production: real EHR integration plus random physical audits.</a:t>
            </a:r>
            <a:endParaRPr b="0" i="0" sz="950" u="none" cap="none" strike="noStrike">
              <a:solidFill>
                <a:schemeClr val="dk1"/>
              </a:solidFill>
              <a:latin typeface="Calibri"/>
              <a:ea typeface="Calibri"/>
              <a:cs typeface="Calibri"/>
              <a:sym typeface="Calibri"/>
            </a:endParaRPr>
          </a:p>
        </p:txBody>
      </p:sp>
      <p:sp>
        <p:nvSpPr>
          <p:cNvPr id="674" name="Rectangle 673"/>
          <p:cNvSpPr/>
          <p:nvPr/>
        </p:nvSpPr>
        <p:spPr>
          <a:xfrm>
            <a:off x="502920" y="5715000"/>
            <a:ext cx="111556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36576" wrap="square"/>
          <a:lstStyle/>
          <a:p>
            <a:pPr algn="ctr"/>
            <a:r>
              <a:rPr b="1" sz="1000"/>
              <a:t>Governance today:  </a:t>
            </a:r>
            <a:r>
              <a:rPr sz="1000"/>
              <a:t>the oversight authority is centralised in this POC — held by the deployer. A natural extension is a DAO-style election, so authority itself becomes contestable.</a:t>
            </a:r>
          </a:p>
          <a:p>
            <a:r>
              <a:rPr b="1" sz="1000"/>
              <a:t>Law &amp; platform:  </a:t>
            </a:r>
            <a:r>
              <a:rPr sz="1000"/>
              <a:t>no personal data on-chain (staff appear as SHA-256 hashes) · EU Regulation 2024/1938 already mandates 30-year traceability · Hedera trade-off, accepted knowingly: public to read and write, permissioned to validate.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70" name="Shape 370"/>
        <p:cNvGrpSpPr/>
        <p:nvPr/>
      </p:nvGrpSpPr>
      <p:grpSpPr>
        <a:xfrm>
          <a:off x="0" y="0"/>
          <a:ext cx="0" cy="0"/>
          <a:chOff x="0" y="0"/>
          <a:chExt cx="0" cy="0"/>
        </a:xfrm>
      </p:grpSpPr>
      <p:pic>
        <p:nvPicPr>
          <p:cNvPr descr="/sessions/zen-gracious-knuth/mnt/outputs/uzh_logos.png" id="371" name="Google Shape;371;p15"/>
          <p:cNvPicPr preferRelativeResize="0"/>
          <p:nvPr/>
        </p:nvPicPr>
        <p:blipFill rotWithShape="1">
          <a:blip r:embed="rId3">
            <a:alphaModFix/>
          </a:blip>
          <a:srcRect b="0" l="0" r="0" t="0"/>
          <a:stretch/>
        </p:blipFill>
        <p:spPr>
          <a:xfrm>
            <a:off x="411480" y="4562856"/>
            <a:ext cx="1115568" cy="233172"/>
          </a:xfrm>
          <a:prstGeom prst="rect">
            <a:avLst/>
          </a:prstGeom>
          <a:noFill/>
          <a:ln>
            <a:noFill/>
          </a:ln>
        </p:spPr>
      </p:pic>
      <p:sp>
        <p:nvSpPr>
          <p:cNvPr id="372" name="Google Shape;372;p15"/>
          <p:cNvSpPr/>
          <p:nvPr/>
        </p:nvSpPr>
        <p:spPr>
          <a:xfrm>
            <a:off x="2377440" y="4562856"/>
            <a:ext cx="4389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DDiB '26  ·  Final Group Project  ·  BloodChain</a:t>
            </a:r>
            <a:endParaRPr b="0" i="0" sz="800" u="none" cap="none" strike="noStrike">
              <a:solidFill>
                <a:schemeClr val="dk1"/>
              </a:solidFill>
              <a:latin typeface="Calibri"/>
              <a:ea typeface="Calibri"/>
              <a:cs typeface="Calibri"/>
              <a:sym typeface="Calibri"/>
            </a:endParaRPr>
          </a:p>
        </p:txBody>
      </p:sp>
      <p:sp>
        <p:nvSpPr>
          <p:cNvPr id="373" name="Google Shape;373;p15"/>
          <p:cNvSpPr/>
          <p:nvPr/>
        </p:nvSpPr>
        <p:spPr>
          <a:xfrm>
            <a:off x="6949440" y="4562856"/>
            <a:ext cx="178308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F7F7F"/>
              </a:buClr>
              <a:buSzPts val="800"/>
              <a:buFont typeface="Arial"/>
              <a:buNone/>
            </a:pPr>
            <a:r>
              <a:rPr b="0" i="0" lang="en-US" sz="800" u="none" cap="none" strike="noStrike">
                <a:solidFill>
                  <a:srgbClr val="7F7F7F"/>
                </a:solidFill>
                <a:latin typeface="Arial"/>
                <a:ea typeface="Arial"/>
                <a:cs typeface="Arial"/>
                <a:sym typeface="Arial"/>
              </a:rPr>
              <a:t>23.07.2026   |   15</a:t>
            </a:r>
            <a:endParaRPr b="0" i="0" sz="800" u="none" cap="none" strike="noStrike">
              <a:solidFill>
                <a:schemeClr val="dk1"/>
              </a:solidFill>
              <a:latin typeface="Calibri"/>
              <a:ea typeface="Calibri"/>
              <a:cs typeface="Calibri"/>
              <a:sym typeface="Calibri"/>
            </a:endParaRPr>
          </a:p>
        </p:txBody>
      </p:sp>
      <p:sp>
        <p:nvSpPr>
          <p:cNvPr id="374" name="Google Shape;374;p15"/>
          <p:cNvSpPr/>
          <p:nvPr/>
        </p:nvSpPr>
        <p:spPr>
          <a:xfrm>
            <a:off x="411480" y="256032"/>
            <a:ext cx="8321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The live demo</a:t>
            </a:r>
            <a:endParaRPr b="0" i="0" sz="2600" u="none" cap="none" strike="noStrike">
              <a:solidFill>
                <a:schemeClr val="dk1"/>
              </a:solidFill>
              <a:latin typeface="Calibri"/>
              <a:ea typeface="Calibri"/>
              <a:cs typeface="Calibri"/>
              <a:sym typeface="Calibri"/>
            </a:endParaRPr>
          </a:p>
        </p:txBody>
      </p:sp>
      <p:sp>
        <p:nvSpPr>
          <p:cNvPr id="375" name="Google Shape;375;p15"/>
          <p:cNvSpPr/>
          <p:nvPr/>
        </p:nvSpPr>
        <p:spPr>
          <a:xfrm>
            <a:off x="411480" y="731520"/>
            <a:ext cx="8321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300"/>
              <a:buFont typeface="Arial"/>
              <a:buNone/>
            </a:pPr>
            <a:r>
              <a:rPr b="0" i="0" lang="en-US" sz="1300" u="none" cap="none" strike="noStrike">
                <a:solidFill>
                  <a:srgbClr val="3F3F3F"/>
                </a:solidFill>
                <a:latin typeface="Arial"/>
                <a:ea typeface="Arial"/>
                <a:cs typeface="Arial"/>
                <a:sym typeface="Arial"/>
              </a:rPr>
              <a:t>Hedera testnet, right now — every number on screen is checkable on hashscan.io</a:t>
            </a:r>
            <a:endParaRPr b="0" i="0" sz="1300" u="none" cap="none" strike="noStrike">
              <a:solidFill>
                <a:schemeClr val="dk1"/>
              </a:solidFill>
              <a:latin typeface="Calibri"/>
              <a:ea typeface="Calibri"/>
              <a:cs typeface="Calibri"/>
              <a:sym typeface="Calibri"/>
            </a:endParaRPr>
          </a:p>
        </p:txBody>
      </p:sp>
      <p:pic>
        <p:nvPicPr>
          <p:cNvPr id="376" name="Picture 375" descr="app-overview.png"/>
          <p:cNvPicPr>
            <a:picLocks noChangeAspect="1"/>
          </p:cNvPicPr>
          <p:nvPr/>
        </p:nvPicPr>
        <p:blipFill>
          <a:blip r:embed="rId2"/>
          <a:stretch>
            <a:fillRect/>
          </a:stretch>
        </p:blipFill>
        <p:spPr>
          <a:xfrm>
            <a:off x="411480" y="1417320"/>
            <a:ext cx="7818120" cy="4397692"/>
          </a:xfrm>
          <a:prstGeom prst="rect">
            <a:avLst/>
          </a:prstGeom>
        </p:spPr>
      </p:pic>
      <p:pic>
        <p:nvPicPr>
          <p:cNvPr id="377" name="Picture 376" descr="app-trace-crop.png"/>
          <p:cNvPicPr>
            <a:picLocks noChangeAspect="1"/>
          </p:cNvPicPr>
          <p:nvPr/>
        </p:nvPicPr>
        <p:blipFill>
          <a:blip r:embed="rId4"/>
          <a:stretch>
            <a:fillRect/>
          </a:stretch>
        </p:blipFill>
        <p:spPr>
          <a:xfrm>
            <a:off x="8549640" y="1417320"/>
            <a:ext cx="1975491" cy="4398264"/>
          </a:xfrm>
          <a:prstGeom prst="rect">
            <a:avLst/>
          </a:prstGeom>
        </p:spPr>
      </p:pic>
      <p:sp>
        <p:nvSpPr>
          <p:cNvPr id="378" name="TextBox 377"/>
          <p:cNvSpPr txBox="1"/>
          <p:nvPr/>
        </p:nvSpPr>
        <p:spPr>
          <a:xfrm>
            <a:off x="411480" y="5897880"/>
            <a:ext cx="11155680" cy="457200"/>
          </a:xfrm>
          <a:prstGeom prst="rect">
            <a:avLst/>
          </a:prstGeom>
          <a:noFill/>
        </p:spPr>
        <p:txBody>
          <a:bodyPr wrap="square">
            <a:spAutoFit/>
          </a:bodyPr>
          <a:lstStyle/>
          <a:p>
            <a:r>
              <a:rPr sz="1100">
                <a:solidFill>
                  <a:srgbClr val="444444"/>
                </a:solidFill>
              </a:rPr>
              <a:t>Left: live overview — flow map, blocked transfers, real consensus feed (37 events, topic 0.0.9663848).   Right: a unit's public record + the QR that goes on the physical bag.</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8A5"/>
        </a:solidFill>
      </p:bgPr>
    </p:bg>
    <p:spTree>
      <p:nvGrpSpPr>
        <p:cNvPr id="751" name="Shape 751"/>
        <p:cNvGrpSpPr/>
        <p:nvPr/>
      </p:nvGrpSpPr>
      <p:grpSpPr>
        <a:xfrm>
          <a:off x="0" y="0"/>
          <a:ext cx="0" cy="0"/>
          <a:chOff x="0" y="0"/>
          <a:chExt cx="0" cy="0"/>
        </a:xfrm>
      </p:grpSpPr>
      <p:sp>
        <p:nvSpPr>
          <p:cNvPr id="752" name="Google Shape;752;p27"/>
          <p:cNvSpPr/>
          <p:nvPr/>
        </p:nvSpPr>
        <p:spPr>
          <a:xfrm>
            <a:off x="6446520" y="1188720"/>
            <a:ext cx="2377440" cy="2377440"/>
          </a:xfrm>
          <a:prstGeom prst="ellipse">
            <a:avLst/>
          </a:prstGeom>
          <a:solidFill>
            <a:srgbClr val="FFFFF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zen-gracious-knuth/mnt/outputs/ico/drop.png" id="753" name="Google Shape;753;p27"/>
          <p:cNvPicPr preferRelativeResize="0"/>
          <p:nvPr/>
        </p:nvPicPr>
        <p:blipFill rotWithShape="1">
          <a:blip r:embed="rId3">
            <a:alphaModFix/>
          </a:blip>
          <a:srcRect b="0" l="0" r="0" t="0"/>
          <a:stretch/>
        </p:blipFill>
        <p:spPr>
          <a:xfrm>
            <a:off x="7040880" y="1783080"/>
            <a:ext cx="1188720" cy="1188720"/>
          </a:xfrm>
          <a:prstGeom prst="rect">
            <a:avLst/>
          </a:prstGeom>
          <a:noFill/>
          <a:ln>
            <a:noFill/>
          </a:ln>
        </p:spPr>
      </p:pic>
      <p:sp>
        <p:nvSpPr>
          <p:cNvPr id="754" name="Google Shape;754;p27"/>
          <p:cNvSpPr/>
          <p:nvPr/>
        </p:nvSpPr>
        <p:spPr>
          <a:xfrm>
            <a:off x="411480" y="1218466"/>
            <a:ext cx="56694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Thank you</a:t>
            </a:r>
            <a:endParaRPr b="0" i="0" sz="4000" u="none" cap="none" strike="noStrike">
              <a:solidFill>
                <a:schemeClr val="dk1"/>
              </a:solidFill>
              <a:latin typeface="Calibri"/>
              <a:ea typeface="Calibri"/>
              <a:cs typeface="Calibri"/>
              <a:sym typeface="Calibri"/>
            </a:endParaRPr>
          </a:p>
        </p:txBody>
      </p:sp>
      <p:sp>
        <p:nvSpPr>
          <p:cNvPr id="755" name="Google Shape;755;p27"/>
          <p:cNvSpPr/>
          <p:nvPr/>
        </p:nvSpPr>
        <p:spPr>
          <a:xfrm>
            <a:off x="411480" y="1938528"/>
            <a:ext cx="5669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0E8"/>
              </a:buClr>
              <a:buSzPts val="2000"/>
              <a:buFont typeface="Arial"/>
              <a:buNone/>
            </a:pPr>
            <a:r>
              <a:rPr b="0" i="0" lang="en-US" sz="2000" u="none" cap="none" strike="noStrike">
                <a:solidFill>
                  <a:srgbClr val="AFC0E8"/>
                </a:solidFill>
                <a:latin typeface="Arial"/>
                <a:ea typeface="Arial"/>
                <a:cs typeface="Arial"/>
                <a:sym typeface="Arial"/>
              </a:rPr>
              <a:t>Questions?</a:t>
            </a:r>
            <a:endParaRPr b="0" i="0" sz="2000" u="none" cap="none" strike="noStrike">
              <a:solidFill>
                <a:schemeClr val="dk1"/>
              </a:solidFill>
              <a:latin typeface="Calibri"/>
              <a:ea typeface="Calibri"/>
              <a:cs typeface="Calibri"/>
              <a:sym typeface="Calibri"/>
            </a:endParaRPr>
          </a:p>
        </p:txBody>
      </p:sp>
      <p:sp>
        <p:nvSpPr>
          <p:cNvPr id="756" name="Google Shape;756;p27"/>
          <p:cNvSpPr/>
          <p:nvPr/>
        </p:nvSpPr>
        <p:spPr>
          <a:xfrm>
            <a:off x="411480" y="2606040"/>
            <a:ext cx="5669280" cy="14173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Everything is public and checkable on hashscan.io</a:t>
            </a:r>
            <a:br>
              <a:rPr b="1" i="0" lang="en-US" sz="1150" u="none" cap="none" strike="noStrike">
                <a:solidFill>
                  <a:srgbClr val="FFFFFF"/>
                </a:solidFill>
                <a:latin typeface="Arial"/>
                <a:ea typeface="Arial"/>
                <a:cs typeface="Arial"/>
                <a:sym typeface="Arial"/>
              </a:rPr>
            </a:br>
            <a:r>
              <a:rPr b="0" i="0" lang="en-US" sz="1150" u="none" cap="none" strike="noStrike">
                <a:solidFill>
                  <a:srgbClr val="C7D3EE"/>
                </a:solidFill>
                <a:latin typeface="Arial"/>
                <a:ea typeface="Arial"/>
                <a:cs typeface="Arial"/>
                <a:sym typeface="Arial"/>
              </a:rPr>
              <a:t>BLOOD token 0.0.9663839  ·  HCS topic 0.0.9663848</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C7D3EE"/>
              </a:buClr>
              <a:buSzPts val="1150"/>
              <a:buFont typeface="Arial"/>
              <a:buNone/>
            </a:pPr>
            <a:r>
              <a:rPr b="0" i="0" lang="en-US" sz="1150" u="none" cap="none" strike="noStrike">
                <a:solidFill>
                  <a:srgbClr val="C7D3EE"/>
                </a:solidFill>
                <a:latin typeface="Arial"/>
                <a:ea typeface="Arial"/>
                <a:cs typeface="Arial"/>
                <a:sym typeface="Arial"/>
              </a:rPr>
              <a:t>BloodUnitGate 0.0.9663858  ·  BloodOversight 0.0.9663881</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C7D3EE"/>
              </a:buClr>
              <a:buSzPts val="1150"/>
              <a:buFont typeface="Arial"/>
              <a:buNone/>
            </a:pPr>
            <a:r>
              <a:rPr b="0" i="0" lang="en-US" sz="1150" u="none" cap="none" strike="noStrike">
                <a:solidFill>
                  <a:srgbClr val="C7D3EE"/>
                </a:solidFill>
                <a:latin typeface="Arial"/>
                <a:ea typeface="Arial"/>
                <a:cs typeface="Arial"/>
                <a:sym typeface="Arial"/>
              </a:rPr>
              <a:t>github.com/MoemenF-03/bloodchain-poc  ·  branch claude-buildout</a:t>
            </a:r>
            <a:endParaRPr b="0" i="0" sz="1150" u="none" cap="none" strike="noStrike">
              <a:solidFill>
                <a:schemeClr val="dk1"/>
              </a:solidFill>
              <a:latin typeface="Calibri"/>
              <a:ea typeface="Calibri"/>
              <a:cs typeface="Calibri"/>
              <a:sym typeface="Calibri"/>
            </a:endParaRPr>
          </a:p>
        </p:txBody>
      </p:sp>
      <p:pic>
        <p:nvPicPr>
          <p:cNvPr descr="/sessions/zen-gracious-knuth/mnt/outputs/uzh_logos.png" id="757" name="Google Shape;757;p27"/>
          <p:cNvPicPr preferRelativeResize="0"/>
          <p:nvPr/>
        </p:nvPicPr>
        <p:blipFill rotWithShape="1">
          <a:blip r:embed="rId4">
            <a:alphaModFix/>
          </a:blip>
          <a:srcRect b="0" l="0" r="0" t="0"/>
          <a:stretch/>
        </p:blipFill>
        <p:spPr>
          <a:xfrm>
            <a:off x="411480" y="4562856"/>
            <a:ext cx="1115568" cy="23317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2026-07-21T14:12:03Z</dcterms:created>
  <dc:creator>DDiB '26 Final Project</dc:creator>
</cp:coreProperties>
</file>